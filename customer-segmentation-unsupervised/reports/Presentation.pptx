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4630400" cy="8229600"/>
  <p:notesSz cx="8229600" cy="14630400"/>
  <p:embeddedFontLst>
    <p:embeddedFont>
      <p:font typeface="Inter Tight"/>
      <p:regular r:id="rId17"/>
    </p:embeddedFont>
    <p:embeddedFont>
      <p:font typeface="Inter Tight Medium"/>
      <p:regular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/>
            </a:fld>
            <a:endParaRPr sz="1200" b="0" i="0" u="none" strike="noStrike" cap="non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" name="Google Shape;43;p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4" name="Google Shape;44;p1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1" name="Google Shape;61;p2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9" name="Google Shape;89;p3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3" name="Google Shape;123;p4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7" name="Google Shape;147;p5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p6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5" name="Google Shape;175;p6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p7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6" name="Google Shape;196;p7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p8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7" name="Google Shape;217;p8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p9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3" name="Google Shape;243;p9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8" name="Google Shape;268;p10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9" name="Google Shape;269;p10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bg>
      <p:bgPr>
        <a:solidFill>
          <a:srgbClr val="000000"/>
        </a:solidFill>
        <a:effectLst/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bg>
      <p:bgPr>
        <a:solidFill>
          <a:srgbClr val="000000"/>
        </a:solidFill>
        <a:effectLst/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bg>
      <p:bgPr>
        <a:solidFill>
          <a:srgbClr val="000000"/>
        </a:solidFill>
        <a:effectLst/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bg>
      <p:bgPr>
        <a:solidFill>
          <a:srgbClr val="000000"/>
        </a:solidFill>
        <a:effectLst/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5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bg>
      <p:bgPr>
        <a:solidFill>
          <a:srgbClr val="000000"/>
        </a:solidFill>
        <a:effectLst/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6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>
  <p:cSld name="Slide 6 master">
    <p:bg>
      <p:bgPr>
        <a:solidFill>
          <a:srgbClr val="000000"/>
        </a:solidFill>
        <a:effectLst/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7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7 master">
  <p:cSld name="Slide 7 master">
    <p:bg>
      <p:bgPr>
        <a:solidFill>
          <a:srgbClr val="000000"/>
        </a:solidFill>
        <a:effectLst/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8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8 master">
  <p:cSld name="Slide 8 master">
    <p:bg>
      <p:bgPr>
        <a:solidFill>
          <a:srgbClr val="000000"/>
        </a:solidFill>
        <a:effectLst/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9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9 master">
  <p:cSld name="Slide 9 master">
    <p:bg>
      <p:bgPr>
        <a:solidFill>
          <a:srgbClr val="000000"/>
        </a:solidFill>
        <a:effectLst/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10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0 master">
  <p:cSld name="Slide 10 master">
    <p:bg>
      <p:bgPr>
        <a:solidFill>
          <a:srgbClr val="000000"/>
        </a:solidFill>
        <a:effectLst/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11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13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8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8" name="Google Shape;48;p13"/>
          <p:cNvSpPr/>
          <p:nvPr/>
        </p:nvSpPr>
        <p:spPr>
          <a:xfrm>
            <a:off x="722233" y="755571"/>
            <a:ext cx="13185934" cy="247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 panose="020B0604020202020204"/>
              <a:buNone/>
            </a:pPr>
            <a:endParaRPr sz="1600" b="0" i="0" u="none" strike="noStrike" cap="none"/>
          </a:p>
        </p:txBody>
      </p:sp>
      <p:sp>
        <p:nvSpPr>
          <p:cNvPr id="49" name="Google Shape;49;p13"/>
          <p:cNvSpPr/>
          <p:nvPr/>
        </p:nvSpPr>
        <p:spPr>
          <a:xfrm>
            <a:off x="722233" y="1235273"/>
            <a:ext cx="13185934" cy="247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 panose="020B0604020202020204"/>
              <a:buNone/>
            </a:pPr>
            <a:endParaRPr sz="1600" b="0" i="0" u="none" strike="noStrike" cap="none"/>
          </a:p>
        </p:txBody>
      </p:sp>
      <p:sp>
        <p:nvSpPr>
          <p:cNvPr id="50" name="Google Shape;50;p13"/>
          <p:cNvSpPr/>
          <p:nvPr/>
        </p:nvSpPr>
        <p:spPr>
          <a:xfrm>
            <a:off x="722233" y="1792367"/>
            <a:ext cx="10626923" cy="1186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6FC4"/>
              </a:buClr>
              <a:buSzPts val="7750"/>
              <a:buFont typeface="Inter Tight"/>
              <a:buNone/>
            </a:pPr>
            <a:r>
              <a:rPr lang="en-US" sz="7750" b="0" i="0" u="none" strike="noStrike" cap="none">
                <a:solidFill>
                  <a:srgbClr val="1A6FC4"/>
                </a:solidFill>
                <a:latin typeface="Inter Tight"/>
                <a:ea typeface="Inter Tight"/>
                <a:cs typeface="Inter Tight"/>
                <a:sym typeface="Inter Tight"/>
              </a:rPr>
              <a:t>Customer Segmentation</a:t>
            </a:r>
            <a:endParaRPr sz="7750" b="0" i="0" u="none" strike="noStrike" cap="none"/>
          </a:p>
        </p:txBody>
      </p:sp>
      <p:sp>
        <p:nvSpPr>
          <p:cNvPr id="51" name="Google Shape;51;p13"/>
          <p:cNvSpPr/>
          <p:nvPr/>
        </p:nvSpPr>
        <p:spPr>
          <a:xfrm>
            <a:off x="722233" y="3288625"/>
            <a:ext cx="12632531" cy="1186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6FC4"/>
              </a:buClr>
              <a:buSzPts val="7750"/>
              <a:buFont typeface="Inter Tight"/>
              <a:buNone/>
            </a:pPr>
            <a:r>
              <a:rPr lang="en-US" sz="7750" b="0" i="0" u="none" strike="noStrike" cap="none">
                <a:solidFill>
                  <a:srgbClr val="1A6FC4"/>
                </a:solidFill>
                <a:latin typeface="Inter Tight"/>
                <a:ea typeface="Inter Tight"/>
                <a:cs typeface="Inter Tight"/>
                <a:sym typeface="Inter Tight"/>
              </a:rPr>
              <a:t>using Unsupervised Learning</a:t>
            </a:r>
            <a:endParaRPr sz="7750" b="0" i="0" u="none" strike="noStrike" cap="none"/>
          </a:p>
        </p:txBody>
      </p:sp>
      <p:sp>
        <p:nvSpPr>
          <p:cNvPr id="52" name="Google Shape;52;p13"/>
          <p:cNvSpPr/>
          <p:nvPr/>
        </p:nvSpPr>
        <p:spPr>
          <a:xfrm>
            <a:off x="722233" y="4784884"/>
            <a:ext cx="13185934" cy="247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 panose="020B0604020202020204"/>
              <a:buNone/>
            </a:pPr>
            <a:endParaRPr sz="1600" b="0" i="0" u="none" strike="noStrike" cap="none"/>
          </a:p>
        </p:txBody>
      </p:sp>
      <p:sp>
        <p:nvSpPr>
          <p:cNvPr id="53" name="Google Shape;53;p13"/>
          <p:cNvSpPr/>
          <p:nvPr/>
        </p:nvSpPr>
        <p:spPr>
          <a:xfrm>
            <a:off x="722233" y="5341977"/>
            <a:ext cx="5097185" cy="429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Inter Tight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Telecom Churn Dataset Analysis</a:t>
            </a:r>
            <a:endParaRPr sz="2800" b="0" i="0" u="none" strike="noStrike" cap="none"/>
          </a:p>
        </p:txBody>
      </p:sp>
      <p:sp>
        <p:nvSpPr>
          <p:cNvPr id="54" name="Google Shape;54;p13"/>
          <p:cNvSpPr/>
          <p:nvPr/>
        </p:nvSpPr>
        <p:spPr>
          <a:xfrm>
            <a:off x="722233" y="6081355"/>
            <a:ext cx="13185934" cy="247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 panose="020B0604020202020204"/>
              <a:buNone/>
            </a:pPr>
            <a:endParaRPr sz="1600" b="0" i="0" u="none" strike="noStrike" cap="none"/>
          </a:p>
        </p:txBody>
      </p:sp>
      <p:sp>
        <p:nvSpPr>
          <p:cNvPr id="55" name="Google Shape;55;p13"/>
          <p:cNvSpPr/>
          <p:nvPr/>
        </p:nvSpPr>
        <p:spPr>
          <a:xfrm>
            <a:off x="722233" y="6746796"/>
            <a:ext cx="6341269" cy="247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 panose="020B0604020202020204"/>
              <a:buNone/>
            </a:pPr>
            <a:endParaRPr sz="1600" b="0" i="0" u="none" strike="noStrike" cap="none"/>
          </a:p>
        </p:txBody>
      </p:sp>
      <p:sp>
        <p:nvSpPr>
          <p:cNvPr id="56" name="Google Shape;56;p13"/>
          <p:cNvSpPr/>
          <p:nvPr/>
        </p:nvSpPr>
        <p:spPr>
          <a:xfrm>
            <a:off x="7574518" y="6746796"/>
            <a:ext cx="6341269" cy="247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 panose="020B0604020202020204"/>
              <a:buNone/>
            </a:pPr>
            <a:endParaRPr sz="1600" b="0" i="0" u="none" strike="noStrike" cap="none"/>
          </a:p>
        </p:txBody>
      </p:sp>
      <p:sp>
        <p:nvSpPr>
          <p:cNvPr id="57" name="Google Shape;57;p13"/>
          <p:cNvSpPr/>
          <p:nvPr/>
        </p:nvSpPr>
        <p:spPr>
          <a:xfrm>
            <a:off x="722233" y="7412236"/>
            <a:ext cx="13185934" cy="247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 panose="020B0604020202020204"/>
              <a:buNone/>
            </a:pPr>
            <a:endParaRPr sz="1600" b="0" i="0" u="none" strike="noStrike" cap="non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722233" y="827961"/>
            <a:ext cx="6807756" cy="81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50"/>
              <a:buFont typeface="Inter Tight"/>
              <a:buNone/>
            </a:pPr>
            <a:r>
              <a:rPr lang="en-US" sz="535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Problem Statement</a:t>
            </a:r>
            <a:endParaRPr sz="5350" b="0" i="0" u="none" strike="noStrike" cap="none"/>
          </a:p>
        </p:txBody>
      </p:sp>
      <p:sp>
        <p:nvSpPr>
          <p:cNvPr id="64" name="Google Shape;64;p14"/>
          <p:cNvSpPr/>
          <p:nvPr/>
        </p:nvSpPr>
        <p:spPr>
          <a:xfrm>
            <a:off x="722233" y="2017276"/>
            <a:ext cx="13185934" cy="229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nter Tight"/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The telecom industry faces significant challenges retaining customers. Without understanding </a:t>
            </a:r>
            <a:r>
              <a:rPr lang="en-US" sz="1500" b="1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who</a:t>
            </a:r>
            <a:r>
              <a:rPr lang="en-US" sz="150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 customers are, retention strategies fail to deliver results.</a:t>
            </a:r>
            <a:endParaRPr sz="1500" b="0" i="0" u="none" strike="noStrike" cap="none"/>
          </a:p>
        </p:txBody>
      </p:sp>
      <p:sp>
        <p:nvSpPr>
          <p:cNvPr id="65" name="Google Shape;65;p14"/>
          <p:cNvSpPr/>
          <p:nvPr/>
        </p:nvSpPr>
        <p:spPr>
          <a:xfrm>
            <a:off x="722233" y="2456021"/>
            <a:ext cx="13185934" cy="229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 panose="020B0604020202020204"/>
              <a:buNone/>
            </a:pPr>
            <a:endParaRPr sz="1500" b="0" i="0" u="none" strike="noStrike" cap="none"/>
          </a:p>
        </p:txBody>
      </p:sp>
      <p:sp>
        <p:nvSpPr>
          <p:cNvPr id="66" name="Google Shape;66;p14"/>
          <p:cNvSpPr/>
          <p:nvPr/>
        </p:nvSpPr>
        <p:spPr>
          <a:xfrm>
            <a:off x="722233" y="2894767"/>
            <a:ext cx="4271129" cy="2389584"/>
          </a:xfrm>
          <a:prstGeom prst="roundRect">
            <a:avLst>
              <a:gd name="adj" fmla="val 7385"/>
            </a:avLst>
          </a:prstGeom>
          <a:solidFill>
            <a:srgbClr val="1F1F1F"/>
          </a:solidFill>
          <a:ln w="9525" cap="flat" cmpd="sng">
            <a:solidFill>
              <a:srgbClr val="3838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7" name="Google Shape;67;p14"/>
          <p:cNvSpPr/>
          <p:nvPr/>
        </p:nvSpPr>
        <p:spPr>
          <a:xfrm>
            <a:off x="925830" y="3098363"/>
            <a:ext cx="588169" cy="588169"/>
          </a:xfrm>
          <a:prstGeom prst="roundRect">
            <a:avLst>
              <a:gd name="adj" fmla="val 15544997"/>
            </a:avLst>
          </a:prstGeom>
          <a:solidFill>
            <a:srgbClr val="FE6A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68" name="Google Shape;68;p14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87517" y="3260050"/>
            <a:ext cx="264676" cy="264676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/>
          <p:nvPr/>
        </p:nvSpPr>
        <p:spPr>
          <a:xfrm>
            <a:off x="925830" y="3872746"/>
            <a:ext cx="3403878" cy="408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50"/>
              <a:buFont typeface="Inter Tight"/>
              <a:buNone/>
            </a:pPr>
            <a:r>
              <a:rPr lang="en-US" sz="2650" b="0" i="0" u="none" strike="noStrike" cap="non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High Customer Churn</a:t>
            </a:r>
            <a:endParaRPr sz="2650" b="0" i="0" u="none" strike="noStrike" cap="none"/>
          </a:p>
        </p:txBody>
      </p:sp>
      <p:sp>
        <p:nvSpPr>
          <p:cNvPr id="70" name="Google Shape;70;p14"/>
          <p:cNvSpPr/>
          <p:nvPr/>
        </p:nvSpPr>
        <p:spPr>
          <a:xfrm>
            <a:off x="925830" y="4392811"/>
            <a:ext cx="3863935" cy="687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Inter Tight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Telecom companies lose a significant share of customers every year, directly impacting revenue and growth.</a:t>
            </a:r>
            <a:endParaRPr sz="1500" b="0" i="0" u="none" strike="noStrike" cap="none"/>
          </a:p>
        </p:txBody>
      </p:sp>
      <p:sp>
        <p:nvSpPr>
          <p:cNvPr id="71" name="Google Shape;71;p14"/>
          <p:cNvSpPr/>
          <p:nvPr/>
        </p:nvSpPr>
        <p:spPr>
          <a:xfrm>
            <a:off x="5179576" y="2894767"/>
            <a:ext cx="4271129" cy="2389584"/>
          </a:xfrm>
          <a:prstGeom prst="roundRect">
            <a:avLst>
              <a:gd name="adj" fmla="val 7385"/>
            </a:avLst>
          </a:prstGeom>
          <a:solidFill>
            <a:srgbClr val="1F1F1F"/>
          </a:solidFill>
          <a:ln w="9525" cap="flat" cmpd="sng">
            <a:solidFill>
              <a:srgbClr val="3838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2" name="Google Shape;72;p14"/>
          <p:cNvSpPr/>
          <p:nvPr/>
        </p:nvSpPr>
        <p:spPr>
          <a:xfrm>
            <a:off x="5383173" y="3098363"/>
            <a:ext cx="588169" cy="588169"/>
          </a:xfrm>
          <a:prstGeom prst="roundRect">
            <a:avLst>
              <a:gd name="adj" fmla="val 15544997"/>
            </a:avLst>
          </a:prstGeom>
          <a:solidFill>
            <a:srgbClr val="FE6A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73" name="Google Shape;73;p14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544860" y="3260050"/>
            <a:ext cx="264676" cy="264676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4"/>
          <p:cNvSpPr/>
          <p:nvPr/>
        </p:nvSpPr>
        <p:spPr>
          <a:xfrm>
            <a:off x="5383173" y="3872746"/>
            <a:ext cx="3403878" cy="408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50"/>
              <a:buFont typeface="Inter Tight"/>
              <a:buNone/>
            </a:pPr>
            <a:r>
              <a:rPr lang="en-US" sz="2650" b="0" i="0" u="none" strike="noStrike" cap="non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Costly Acquisition</a:t>
            </a:r>
            <a:endParaRPr sz="2650" b="0" i="0" u="none" strike="noStrike" cap="none"/>
          </a:p>
        </p:txBody>
      </p:sp>
      <p:sp>
        <p:nvSpPr>
          <p:cNvPr id="75" name="Google Shape;75;p14"/>
          <p:cNvSpPr/>
          <p:nvPr/>
        </p:nvSpPr>
        <p:spPr>
          <a:xfrm>
            <a:off x="5383173" y="4392811"/>
            <a:ext cx="3863935" cy="687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Inter Tight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Acquiring a new customer costs </a:t>
            </a:r>
            <a:r>
              <a:rPr lang="en-US" sz="1500" b="1" i="0" u="none" strike="noStrike" cap="non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5–7×</a:t>
            </a:r>
            <a:r>
              <a:rPr lang="en-US" sz="1500" b="0" i="0" u="none" strike="noStrike" cap="non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 more than retaining an existing one, making churn extremely expensive.</a:t>
            </a:r>
            <a:endParaRPr sz="1500" b="0" i="0" u="none" strike="noStrike" cap="none"/>
          </a:p>
        </p:txBody>
      </p:sp>
      <p:sp>
        <p:nvSpPr>
          <p:cNvPr id="76" name="Google Shape;76;p14"/>
          <p:cNvSpPr/>
          <p:nvPr/>
        </p:nvSpPr>
        <p:spPr>
          <a:xfrm>
            <a:off x="9636919" y="2894767"/>
            <a:ext cx="4271248" cy="2389584"/>
          </a:xfrm>
          <a:prstGeom prst="roundRect">
            <a:avLst>
              <a:gd name="adj" fmla="val 7385"/>
            </a:avLst>
          </a:prstGeom>
          <a:solidFill>
            <a:srgbClr val="1F1F1F"/>
          </a:solidFill>
          <a:ln w="9525" cap="flat" cmpd="sng">
            <a:solidFill>
              <a:srgbClr val="3838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7" name="Google Shape;77;p14"/>
          <p:cNvSpPr/>
          <p:nvPr/>
        </p:nvSpPr>
        <p:spPr>
          <a:xfrm>
            <a:off x="9840516" y="3098363"/>
            <a:ext cx="588169" cy="588169"/>
          </a:xfrm>
          <a:prstGeom prst="roundRect">
            <a:avLst>
              <a:gd name="adj" fmla="val 15544997"/>
            </a:avLst>
          </a:prstGeom>
          <a:solidFill>
            <a:srgbClr val="FE6A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78" name="Google Shape;78;p14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002203" y="3260050"/>
            <a:ext cx="264676" cy="264676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4"/>
          <p:cNvSpPr/>
          <p:nvPr/>
        </p:nvSpPr>
        <p:spPr>
          <a:xfrm>
            <a:off x="9840516" y="3872746"/>
            <a:ext cx="3403878" cy="408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50"/>
              <a:buFont typeface="Inter Tight"/>
              <a:buNone/>
            </a:pPr>
            <a:r>
              <a:rPr lang="en-US" sz="2650" b="0" i="0" u="none" strike="noStrike" cap="non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Generic Strategies Fail</a:t>
            </a:r>
            <a:endParaRPr sz="2650" b="0" i="0" u="none" strike="noStrike" cap="none"/>
          </a:p>
        </p:txBody>
      </p:sp>
      <p:sp>
        <p:nvSpPr>
          <p:cNvPr id="80" name="Google Shape;80;p14"/>
          <p:cNvSpPr/>
          <p:nvPr/>
        </p:nvSpPr>
        <p:spPr>
          <a:xfrm>
            <a:off x="9840516" y="4392811"/>
            <a:ext cx="3864054" cy="687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Inter Tight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One-size-fits-all retention campaigns miss the mark — different customers have very different needs and behaviors.</a:t>
            </a:r>
            <a:endParaRPr sz="1500" b="0" i="0" u="none" strike="noStrike" cap="none"/>
          </a:p>
        </p:txBody>
      </p:sp>
      <p:sp>
        <p:nvSpPr>
          <p:cNvPr id="81" name="Google Shape;81;p14"/>
          <p:cNvSpPr/>
          <p:nvPr/>
        </p:nvSpPr>
        <p:spPr>
          <a:xfrm>
            <a:off x="722233" y="5470565"/>
            <a:ext cx="13185934" cy="1930956"/>
          </a:xfrm>
          <a:prstGeom prst="roundRect">
            <a:avLst>
              <a:gd name="adj" fmla="val 9138"/>
            </a:avLst>
          </a:prstGeom>
          <a:solidFill>
            <a:srgbClr val="1F1F1F"/>
          </a:solidFill>
          <a:ln w="9525" cap="flat" cmpd="sng">
            <a:solidFill>
              <a:srgbClr val="3838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4"/>
          <p:cNvSpPr/>
          <p:nvPr/>
        </p:nvSpPr>
        <p:spPr>
          <a:xfrm>
            <a:off x="925830" y="5674162"/>
            <a:ext cx="588169" cy="588169"/>
          </a:xfrm>
          <a:prstGeom prst="roundRect">
            <a:avLst>
              <a:gd name="adj" fmla="val 15544997"/>
            </a:avLst>
          </a:prstGeom>
          <a:solidFill>
            <a:srgbClr val="FE6A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83" name="Google Shape;83;p14" descr="preencoded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87517" y="5835848"/>
            <a:ext cx="264676" cy="264676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4"/>
          <p:cNvSpPr/>
          <p:nvPr/>
        </p:nvSpPr>
        <p:spPr>
          <a:xfrm>
            <a:off x="925830" y="6448544"/>
            <a:ext cx="5354003" cy="408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50"/>
              <a:buFont typeface="Inter Tight"/>
              <a:buNone/>
            </a:pPr>
            <a:r>
              <a:rPr lang="en-US" sz="2650" b="0" i="0" u="none" strike="noStrike" cap="non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Need for Data-Driven Segmentation</a:t>
            </a:r>
            <a:endParaRPr sz="2650" b="0" i="0" u="none" strike="noStrike" cap="none"/>
          </a:p>
        </p:txBody>
      </p:sp>
      <p:sp>
        <p:nvSpPr>
          <p:cNvPr id="85" name="Google Shape;85;p14"/>
          <p:cNvSpPr/>
          <p:nvPr/>
        </p:nvSpPr>
        <p:spPr>
          <a:xfrm>
            <a:off x="925830" y="6968609"/>
            <a:ext cx="12778740" cy="229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Inter Tight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Behavioral segmentation enables precise, personalized retention strategies that actually work.</a:t>
            </a:r>
            <a:endParaRPr sz="1500" b="0" i="0" u="none" strike="noStrike" cap="non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/>
          <p:nvPr/>
        </p:nvSpPr>
        <p:spPr>
          <a:xfrm>
            <a:off x="722233" y="750689"/>
            <a:ext cx="8306157" cy="773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50"/>
              <a:buFont typeface="Inter Tight"/>
              <a:buNone/>
            </a:pPr>
            <a:r>
              <a:rPr lang="en-US" sz="505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Why Unsupervised Learning?</a:t>
            </a:r>
            <a:endParaRPr sz="5050" b="0" i="0" u="none" strike="noStrike" cap="none"/>
          </a:p>
        </p:txBody>
      </p:sp>
      <p:sp>
        <p:nvSpPr>
          <p:cNvPr id="92" name="Google Shape;92;p15"/>
          <p:cNvSpPr/>
          <p:nvPr/>
        </p:nvSpPr>
        <p:spPr>
          <a:xfrm>
            <a:off x="722233" y="1858923"/>
            <a:ext cx="13185934" cy="211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Inter Tight"/>
              <a:buNone/>
            </a:pPr>
            <a:r>
              <a:rPr lang="en-US" sz="145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Unsupervised learning was chosen because customer behavior data has </a:t>
            </a:r>
            <a:r>
              <a:rPr lang="en-US" sz="1450" b="1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no pre-existing labels</a:t>
            </a:r>
            <a:r>
              <a:rPr lang="en-US" sz="145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 — the goal is to discover hidden natural groupings.</a:t>
            </a:r>
            <a:endParaRPr sz="1450" b="0" i="0" u="none" strike="noStrike" cap="none"/>
          </a:p>
        </p:txBody>
      </p:sp>
      <p:sp>
        <p:nvSpPr>
          <p:cNvPr id="93" name="Google Shape;93;p15"/>
          <p:cNvSpPr/>
          <p:nvPr/>
        </p:nvSpPr>
        <p:spPr>
          <a:xfrm>
            <a:off x="722233" y="2258616"/>
            <a:ext cx="13185934" cy="211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50"/>
              <a:buFont typeface="Arial" panose="020B0604020202020204"/>
              <a:buNone/>
            </a:pPr>
            <a:endParaRPr sz="1450" b="0" i="0" u="none" strike="noStrike" cap="none"/>
          </a:p>
        </p:txBody>
      </p:sp>
      <p:sp>
        <p:nvSpPr>
          <p:cNvPr id="94" name="Google Shape;94;p15"/>
          <p:cNvSpPr/>
          <p:nvPr/>
        </p:nvSpPr>
        <p:spPr>
          <a:xfrm>
            <a:off x="722233" y="2825472"/>
            <a:ext cx="3750469" cy="394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Inter Tight"/>
              <a:buNone/>
            </a:pPr>
            <a:r>
              <a:rPr lang="en-US" sz="250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✅ Unsupervised Learning</a:t>
            </a:r>
            <a:endParaRPr sz="2500" b="0" i="0" u="none" strike="noStrike" cap="none"/>
          </a:p>
        </p:txBody>
      </p:sp>
      <p:sp>
        <p:nvSpPr>
          <p:cNvPr id="95" name="Google Shape;95;p15"/>
          <p:cNvSpPr/>
          <p:nvPr/>
        </p:nvSpPr>
        <p:spPr>
          <a:xfrm>
            <a:off x="722233" y="3407926"/>
            <a:ext cx="6366391" cy="1182886"/>
          </a:xfrm>
          <a:prstGeom prst="roundRect">
            <a:avLst>
              <a:gd name="adj" fmla="val 9276"/>
            </a:avLst>
          </a:prstGeom>
          <a:solidFill>
            <a:srgbClr val="FFFFFF">
              <a:alpha val="94901"/>
            </a:srgbClr>
          </a:solidFill>
          <a:ln w="22850" cap="flat" cmpd="sng">
            <a:solidFill>
              <a:srgbClr val="3838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6" name="Google Shape;96;p15"/>
          <p:cNvSpPr/>
          <p:nvPr/>
        </p:nvSpPr>
        <p:spPr>
          <a:xfrm>
            <a:off x="699373" y="3407926"/>
            <a:ext cx="91440" cy="1182886"/>
          </a:xfrm>
          <a:prstGeom prst="roundRect">
            <a:avLst>
              <a:gd name="adj" fmla="val 182821"/>
            </a:avLst>
          </a:prstGeom>
          <a:solidFill>
            <a:srgbClr val="FE6A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7" name="Google Shape;97;p15"/>
          <p:cNvSpPr/>
          <p:nvPr/>
        </p:nvSpPr>
        <p:spPr>
          <a:xfrm>
            <a:off x="999411" y="3616523"/>
            <a:ext cx="3536752" cy="386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6FC4"/>
              </a:buClr>
              <a:buSzPts val="2500"/>
              <a:buFont typeface="Inter Tight"/>
              <a:buNone/>
            </a:pPr>
            <a:r>
              <a:rPr lang="en-US" sz="2500" b="0" i="0" u="none" strike="noStrike" cap="none">
                <a:solidFill>
                  <a:srgbClr val="1A6FC4"/>
                </a:solidFill>
                <a:latin typeface="Inter Tight"/>
                <a:ea typeface="Inter Tight"/>
                <a:cs typeface="Inter Tight"/>
                <a:sym typeface="Inter Tight"/>
              </a:rPr>
              <a:t>No Labeled Data Needed</a:t>
            </a:r>
            <a:endParaRPr sz="2500" b="0" i="0" u="none" strike="noStrike" cap="none"/>
          </a:p>
        </p:txBody>
      </p:sp>
      <p:sp>
        <p:nvSpPr>
          <p:cNvPr id="98" name="Google Shape;98;p15"/>
          <p:cNvSpPr/>
          <p:nvPr/>
        </p:nvSpPr>
        <p:spPr>
          <a:xfrm>
            <a:off x="999411" y="4170521"/>
            <a:ext cx="5880616" cy="211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Inter Tight"/>
              <a:buNone/>
            </a:pPr>
            <a:r>
              <a:rPr lang="en-US" sz="145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Works directly on raw behavioral data without manual annotation</a:t>
            </a:r>
            <a:endParaRPr sz="1450" b="0" i="0" u="none" strike="noStrike" cap="none"/>
          </a:p>
        </p:txBody>
      </p:sp>
      <p:sp>
        <p:nvSpPr>
          <p:cNvPr id="99" name="Google Shape;99;p15"/>
          <p:cNvSpPr/>
          <p:nvPr/>
        </p:nvSpPr>
        <p:spPr>
          <a:xfrm>
            <a:off x="722233" y="4757976"/>
            <a:ext cx="6366391" cy="1182886"/>
          </a:xfrm>
          <a:prstGeom prst="roundRect">
            <a:avLst>
              <a:gd name="adj" fmla="val 9276"/>
            </a:avLst>
          </a:prstGeom>
          <a:solidFill>
            <a:srgbClr val="FFFFFF">
              <a:alpha val="94901"/>
            </a:srgbClr>
          </a:solidFill>
          <a:ln w="22850" cap="flat" cmpd="sng">
            <a:solidFill>
              <a:srgbClr val="3838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0" name="Google Shape;100;p15"/>
          <p:cNvSpPr/>
          <p:nvPr/>
        </p:nvSpPr>
        <p:spPr>
          <a:xfrm>
            <a:off x="699373" y="4757976"/>
            <a:ext cx="91440" cy="1182886"/>
          </a:xfrm>
          <a:prstGeom prst="roundRect">
            <a:avLst>
              <a:gd name="adj" fmla="val 182821"/>
            </a:avLst>
          </a:prstGeom>
          <a:solidFill>
            <a:srgbClr val="FE6A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1" name="Google Shape;101;p15"/>
          <p:cNvSpPr/>
          <p:nvPr/>
        </p:nvSpPr>
        <p:spPr>
          <a:xfrm>
            <a:off x="999411" y="4966573"/>
            <a:ext cx="3751659" cy="386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6FC4"/>
              </a:buClr>
              <a:buSzPts val="2500"/>
              <a:buFont typeface="Inter Tight"/>
              <a:buNone/>
            </a:pPr>
            <a:r>
              <a:rPr lang="en-US" sz="2500" b="0" i="0" u="none" strike="noStrike" cap="none">
                <a:solidFill>
                  <a:srgbClr val="1A6FC4"/>
                </a:solidFill>
                <a:latin typeface="Inter Tight"/>
                <a:ea typeface="Inter Tight"/>
                <a:cs typeface="Inter Tight"/>
                <a:sym typeface="Inter Tight"/>
              </a:rPr>
              <a:t>Discovers Hidden Patterns</a:t>
            </a:r>
            <a:endParaRPr sz="2500" b="0" i="0" u="none" strike="noStrike" cap="none"/>
          </a:p>
        </p:txBody>
      </p:sp>
      <p:sp>
        <p:nvSpPr>
          <p:cNvPr id="102" name="Google Shape;102;p15"/>
          <p:cNvSpPr/>
          <p:nvPr/>
        </p:nvSpPr>
        <p:spPr>
          <a:xfrm>
            <a:off x="999411" y="5520571"/>
            <a:ext cx="5880616" cy="211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Inter Tight"/>
              <a:buNone/>
            </a:pPr>
            <a:r>
              <a:rPr lang="en-US" sz="145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Reveals natural groupings invisible to human analysts</a:t>
            </a:r>
            <a:endParaRPr sz="1450" b="0" i="0" u="none" strike="noStrike" cap="none"/>
          </a:p>
        </p:txBody>
      </p:sp>
      <p:sp>
        <p:nvSpPr>
          <p:cNvPr id="103" name="Google Shape;103;p15"/>
          <p:cNvSpPr/>
          <p:nvPr/>
        </p:nvSpPr>
        <p:spPr>
          <a:xfrm>
            <a:off x="722233" y="6108025"/>
            <a:ext cx="6366391" cy="1182886"/>
          </a:xfrm>
          <a:prstGeom prst="roundRect">
            <a:avLst>
              <a:gd name="adj" fmla="val 9276"/>
            </a:avLst>
          </a:prstGeom>
          <a:solidFill>
            <a:srgbClr val="FFFFFF">
              <a:alpha val="94901"/>
            </a:srgbClr>
          </a:solidFill>
          <a:ln w="22850" cap="flat" cmpd="sng">
            <a:solidFill>
              <a:srgbClr val="3838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" name="Google Shape;104;p15"/>
          <p:cNvSpPr/>
          <p:nvPr/>
        </p:nvSpPr>
        <p:spPr>
          <a:xfrm>
            <a:off x="699373" y="6108025"/>
            <a:ext cx="91440" cy="1182886"/>
          </a:xfrm>
          <a:prstGeom prst="roundRect">
            <a:avLst>
              <a:gd name="adj" fmla="val 182821"/>
            </a:avLst>
          </a:prstGeom>
          <a:solidFill>
            <a:srgbClr val="FE6A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5" name="Google Shape;105;p15"/>
          <p:cNvSpPr/>
          <p:nvPr/>
        </p:nvSpPr>
        <p:spPr>
          <a:xfrm>
            <a:off x="999411" y="6316623"/>
            <a:ext cx="3224689" cy="386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6FC4"/>
              </a:buClr>
              <a:buSzPts val="2500"/>
              <a:buFont typeface="Inter Tight"/>
              <a:buNone/>
            </a:pPr>
            <a:r>
              <a:rPr lang="en-US" sz="2500" b="0" i="0" u="none" strike="noStrike" cap="none">
                <a:solidFill>
                  <a:srgbClr val="1A6FC4"/>
                </a:solidFill>
                <a:latin typeface="Inter Tight"/>
                <a:ea typeface="Inter Tight"/>
                <a:cs typeface="Inter Tight"/>
                <a:sym typeface="Inter Tight"/>
              </a:rPr>
              <a:t>Proactive Retention</a:t>
            </a:r>
            <a:endParaRPr sz="2500" b="0" i="0" u="none" strike="noStrike" cap="none"/>
          </a:p>
        </p:txBody>
      </p:sp>
      <p:sp>
        <p:nvSpPr>
          <p:cNvPr id="106" name="Google Shape;106;p15"/>
          <p:cNvSpPr/>
          <p:nvPr/>
        </p:nvSpPr>
        <p:spPr>
          <a:xfrm>
            <a:off x="999411" y="6870621"/>
            <a:ext cx="5880616" cy="211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Inter Tight"/>
              <a:buNone/>
            </a:pPr>
            <a:r>
              <a:rPr lang="en-US" sz="145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Enables targeted action before a customer churns</a:t>
            </a:r>
            <a:endParaRPr sz="1450" b="0" i="0" u="none" strike="noStrike" cap="none"/>
          </a:p>
        </p:txBody>
      </p:sp>
      <p:sp>
        <p:nvSpPr>
          <p:cNvPr id="107" name="Google Shape;107;p15"/>
          <p:cNvSpPr/>
          <p:nvPr/>
        </p:nvSpPr>
        <p:spPr>
          <a:xfrm>
            <a:off x="7549396" y="2825472"/>
            <a:ext cx="5236012" cy="394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Inter Tight"/>
              <a:buNone/>
            </a:pPr>
            <a:r>
              <a:rPr lang="en-US" sz="250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❌ Supervised Learning — Why Not?</a:t>
            </a:r>
            <a:endParaRPr sz="2500" b="0" i="0" u="none" strike="noStrike" cap="none"/>
          </a:p>
        </p:txBody>
      </p:sp>
      <p:sp>
        <p:nvSpPr>
          <p:cNvPr id="108" name="Google Shape;108;p15"/>
          <p:cNvSpPr/>
          <p:nvPr/>
        </p:nvSpPr>
        <p:spPr>
          <a:xfrm>
            <a:off x="7549396" y="3407926"/>
            <a:ext cx="6366391" cy="1182886"/>
          </a:xfrm>
          <a:prstGeom prst="roundRect">
            <a:avLst>
              <a:gd name="adj" fmla="val 9276"/>
            </a:avLst>
          </a:prstGeom>
          <a:solidFill>
            <a:srgbClr val="FFFFFF">
              <a:alpha val="94901"/>
            </a:srgbClr>
          </a:solidFill>
          <a:ln w="22850" cap="flat" cmpd="sng">
            <a:solidFill>
              <a:srgbClr val="3838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9" name="Google Shape;109;p15"/>
          <p:cNvSpPr/>
          <p:nvPr/>
        </p:nvSpPr>
        <p:spPr>
          <a:xfrm>
            <a:off x="7526536" y="3407926"/>
            <a:ext cx="91440" cy="1182886"/>
          </a:xfrm>
          <a:prstGeom prst="roundRect">
            <a:avLst>
              <a:gd name="adj" fmla="val 182821"/>
            </a:avLst>
          </a:prstGeom>
          <a:solidFill>
            <a:srgbClr val="FE6A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0" name="Google Shape;110;p15"/>
          <p:cNvSpPr/>
          <p:nvPr/>
        </p:nvSpPr>
        <p:spPr>
          <a:xfrm>
            <a:off x="7826573" y="3616523"/>
            <a:ext cx="4376142" cy="386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Inter Tight"/>
              <a:buNone/>
            </a:pPr>
            <a:r>
              <a:rPr lang="en-US" sz="250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Requires Labeled Training Data</a:t>
            </a:r>
            <a:endParaRPr sz="2500" b="0" i="0" u="none" strike="noStrike" cap="none"/>
          </a:p>
        </p:txBody>
      </p:sp>
      <p:sp>
        <p:nvSpPr>
          <p:cNvPr id="111" name="Google Shape;111;p15"/>
          <p:cNvSpPr/>
          <p:nvPr/>
        </p:nvSpPr>
        <p:spPr>
          <a:xfrm>
            <a:off x="7826573" y="4170521"/>
            <a:ext cx="5880616" cy="211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Inter Tight"/>
              <a:buNone/>
            </a:pPr>
            <a:r>
              <a:rPr lang="en-US" sz="145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Needs pre-classified churn/no-churn labels which may be biased</a:t>
            </a:r>
            <a:endParaRPr sz="1450" b="0" i="0" u="none" strike="noStrike" cap="none"/>
          </a:p>
        </p:txBody>
      </p:sp>
      <p:sp>
        <p:nvSpPr>
          <p:cNvPr id="112" name="Google Shape;112;p15"/>
          <p:cNvSpPr/>
          <p:nvPr/>
        </p:nvSpPr>
        <p:spPr>
          <a:xfrm>
            <a:off x="7549396" y="4757976"/>
            <a:ext cx="6366391" cy="1182886"/>
          </a:xfrm>
          <a:prstGeom prst="roundRect">
            <a:avLst>
              <a:gd name="adj" fmla="val 9276"/>
            </a:avLst>
          </a:prstGeom>
          <a:solidFill>
            <a:srgbClr val="FFFFFF">
              <a:alpha val="94901"/>
            </a:srgbClr>
          </a:solidFill>
          <a:ln w="22850" cap="flat" cmpd="sng">
            <a:solidFill>
              <a:srgbClr val="3838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3" name="Google Shape;113;p15"/>
          <p:cNvSpPr/>
          <p:nvPr/>
        </p:nvSpPr>
        <p:spPr>
          <a:xfrm>
            <a:off x="7526536" y="4757976"/>
            <a:ext cx="91440" cy="1182886"/>
          </a:xfrm>
          <a:prstGeom prst="roundRect">
            <a:avLst>
              <a:gd name="adj" fmla="val 182821"/>
            </a:avLst>
          </a:prstGeom>
          <a:solidFill>
            <a:srgbClr val="FE6A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4" name="Google Shape;114;p15"/>
          <p:cNvSpPr/>
          <p:nvPr/>
        </p:nvSpPr>
        <p:spPr>
          <a:xfrm>
            <a:off x="7826573" y="4966573"/>
            <a:ext cx="4479727" cy="386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Inter Tight"/>
              <a:buNone/>
            </a:pPr>
            <a:r>
              <a:rPr lang="en-US" sz="250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Predicts Known Outcomes Only</a:t>
            </a:r>
            <a:endParaRPr sz="2500" b="0" i="0" u="none" strike="noStrike" cap="none"/>
          </a:p>
        </p:txBody>
      </p:sp>
      <p:sp>
        <p:nvSpPr>
          <p:cNvPr id="115" name="Google Shape;115;p15"/>
          <p:cNvSpPr/>
          <p:nvPr/>
        </p:nvSpPr>
        <p:spPr>
          <a:xfrm>
            <a:off x="7826573" y="5520571"/>
            <a:ext cx="5880616" cy="211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Inter Tight"/>
              <a:buNone/>
            </a:pPr>
            <a:r>
              <a:rPr lang="en-US" sz="145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Cannot discover new, unexpected behavioral clusters</a:t>
            </a:r>
            <a:endParaRPr sz="1450" b="0" i="0" u="none" strike="noStrike" cap="none"/>
          </a:p>
        </p:txBody>
      </p:sp>
      <p:sp>
        <p:nvSpPr>
          <p:cNvPr id="116" name="Google Shape;116;p15"/>
          <p:cNvSpPr/>
          <p:nvPr/>
        </p:nvSpPr>
        <p:spPr>
          <a:xfrm>
            <a:off x="7549396" y="6108025"/>
            <a:ext cx="6366391" cy="1182886"/>
          </a:xfrm>
          <a:prstGeom prst="roundRect">
            <a:avLst>
              <a:gd name="adj" fmla="val 9276"/>
            </a:avLst>
          </a:prstGeom>
          <a:solidFill>
            <a:srgbClr val="FFFFFF">
              <a:alpha val="94901"/>
            </a:srgbClr>
          </a:solidFill>
          <a:ln w="22850" cap="flat" cmpd="sng">
            <a:solidFill>
              <a:srgbClr val="3838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7" name="Google Shape;117;p15"/>
          <p:cNvSpPr/>
          <p:nvPr/>
        </p:nvSpPr>
        <p:spPr>
          <a:xfrm>
            <a:off x="7526536" y="6108025"/>
            <a:ext cx="91440" cy="1182886"/>
          </a:xfrm>
          <a:prstGeom prst="roundRect">
            <a:avLst>
              <a:gd name="adj" fmla="val 182821"/>
            </a:avLst>
          </a:prstGeom>
          <a:solidFill>
            <a:srgbClr val="FE6A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8" name="Google Shape;118;p15"/>
          <p:cNvSpPr/>
          <p:nvPr/>
        </p:nvSpPr>
        <p:spPr>
          <a:xfrm>
            <a:off x="7826573" y="6316623"/>
            <a:ext cx="3224689" cy="386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Inter Tight"/>
              <a:buNone/>
            </a:pPr>
            <a:r>
              <a:rPr lang="en-US" sz="250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Less Exploratory</a:t>
            </a:r>
            <a:endParaRPr sz="2500" b="0" i="0" u="none" strike="noStrike" cap="none"/>
          </a:p>
        </p:txBody>
      </p:sp>
      <p:sp>
        <p:nvSpPr>
          <p:cNvPr id="119" name="Google Shape;119;p15"/>
          <p:cNvSpPr/>
          <p:nvPr/>
        </p:nvSpPr>
        <p:spPr>
          <a:xfrm>
            <a:off x="7826573" y="6870621"/>
            <a:ext cx="5880616" cy="211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Inter Tight"/>
              <a:buNone/>
            </a:pPr>
            <a:r>
              <a:rPr lang="en-US" sz="145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Does not reveal the underlying structure of customer behavior</a:t>
            </a:r>
            <a:endParaRPr sz="1450" b="0" i="0" u="none" strike="noStrike" cap="non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/>
          <p:nvPr/>
        </p:nvSpPr>
        <p:spPr>
          <a:xfrm>
            <a:off x="722233" y="1030724"/>
            <a:ext cx="7166134" cy="859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Inter Tight"/>
              <a:buNone/>
            </a:pPr>
            <a:r>
              <a:rPr lang="en-US" sz="560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Dataset Overview</a:t>
            </a:r>
            <a:endParaRPr sz="5600" b="0" i="0" u="none" strike="noStrike" cap="none"/>
          </a:p>
        </p:txBody>
      </p:sp>
      <p:sp>
        <p:nvSpPr>
          <p:cNvPr id="126" name="Google Shape;126;p16"/>
          <p:cNvSpPr/>
          <p:nvPr/>
        </p:nvSpPr>
        <p:spPr>
          <a:xfrm>
            <a:off x="722233" y="2200156"/>
            <a:ext cx="13185934" cy="247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 Tight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The </a:t>
            </a:r>
            <a:r>
              <a:rPr lang="en-US" sz="1600" b="1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Telecom Churn Dataset</a:t>
            </a:r>
            <a:r>
              <a:rPr lang="en-US" sz="160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 is a well-known benchmark dataset containing rich behavioral features for customer analysis.</a:t>
            </a:r>
            <a:endParaRPr sz="1600" b="0" i="0" u="none" strike="noStrike" cap="none"/>
          </a:p>
        </p:txBody>
      </p:sp>
      <p:sp>
        <p:nvSpPr>
          <p:cNvPr id="127" name="Google Shape;127;p16"/>
          <p:cNvSpPr/>
          <p:nvPr/>
        </p:nvSpPr>
        <p:spPr>
          <a:xfrm>
            <a:off x="722233" y="2679859"/>
            <a:ext cx="13185934" cy="247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 panose="020B0604020202020204"/>
              <a:buNone/>
            </a:pPr>
            <a:endParaRPr sz="1600" b="0" i="0" u="none" strike="noStrike" cap="none"/>
          </a:p>
        </p:txBody>
      </p:sp>
      <p:sp>
        <p:nvSpPr>
          <p:cNvPr id="128" name="Google Shape;128;p16"/>
          <p:cNvSpPr/>
          <p:nvPr/>
        </p:nvSpPr>
        <p:spPr>
          <a:xfrm>
            <a:off x="722233" y="3262670"/>
            <a:ext cx="6464022" cy="68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50"/>
              <a:buFont typeface="Inter Tight"/>
              <a:buNone/>
            </a:pPr>
            <a:r>
              <a:rPr lang="en-US" sz="535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3,333</a:t>
            </a:r>
            <a:endParaRPr sz="5350" b="0" i="0" u="none" strike="noStrike" cap="none"/>
          </a:p>
        </p:txBody>
      </p:sp>
      <p:sp>
        <p:nvSpPr>
          <p:cNvPr id="129" name="Google Shape;129;p16"/>
          <p:cNvSpPr/>
          <p:nvPr/>
        </p:nvSpPr>
        <p:spPr>
          <a:xfrm>
            <a:off x="2162651" y="4201597"/>
            <a:ext cx="3583067" cy="429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Inter Tight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Customer Records</a:t>
            </a:r>
            <a:endParaRPr sz="2800" b="0" i="0" u="none" strike="noStrike" cap="none"/>
          </a:p>
        </p:txBody>
      </p:sp>
      <p:sp>
        <p:nvSpPr>
          <p:cNvPr id="130" name="Google Shape;130;p16"/>
          <p:cNvSpPr/>
          <p:nvPr/>
        </p:nvSpPr>
        <p:spPr>
          <a:xfrm>
            <a:off x="722233" y="4755237"/>
            <a:ext cx="6464022" cy="247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 Tight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Total samples in dataset</a:t>
            </a:r>
            <a:endParaRPr sz="1600" b="0" i="0" u="none" strike="noStrike" cap="none"/>
          </a:p>
        </p:txBody>
      </p:sp>
      <p:sp>
        <p:nvSpPr>
          <p:cNvPr id="131" name="Google Shape;131;p16"/>
          <p:cNvSpPr/>
          <p:nvPr/>
        </p:nvSpPr>
        <p:spPr>
          <a:xfrm>
            <a:off x="7444145" y="3262670"/>
            <a:ext cx="6464022" cy="68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50"/>
              <a:buFont typeface="Inter Tight"/>
              <a:buNone/>
            </a:pPr>
            <a:r>
              <a:rPr lang="en-US" sz="535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20</a:t>
            </a:r>
            <a:endParaRPr sz="5350" b="0" i="0" u="none" strike="noStrike" cap="none"/>
          </a:p>
        </p:txBody>
      </p:sp>
      <p:sp>
        <p:nvSpPr>
          <p:cNvPr id="132" name="Google Shape;132;p16"/>
          <p:cNvSpPr/>
          <p:nvPr/>
        </p:nvSpPr>
        <p:spPr>
          <a:xfrm>
            <a:off x="8884563" y="4201597"/>
            <a:ext cx="3583067" cy="429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Inter Tight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Features</a:t>
            </a:r>
            <a:endParaRPr sz="2800" b="0" i="0" u="none" strike="noStrike" cap="none"/>
          </a:p>
        </p:txBody>
      </p:sp>
      <p:sp>
        <p:nvSpPr>
          <p:cNvPr id="133" name="Google Shape;133;p16"/>
          <p:cNvSpPr/>
          <p:nvPr/>
        </p:nvSpPr>
        <p:spPr>
          <a:xfrm>
            <a:off x="7444145" y="4755237"/>
            <a:ext cx="6464022" cy="247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 Tight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Behavioral attributes per customer</a:t>
            </a:r>
            <a:endParaRPr sz="1600" b="0" i="0" u="none" strike="noStrike" cap="none"/>
          </a:p>
        </p:txBody>
      </p:sp>
      <p:sp>
        <p:nvSpPr>
          <p:cNvPr id="134" name="Google Shape;134;p16"/>
          <p:cNvSpPr/>
          <p:nvPr/>
        </p:nvSpPr>
        <p:spPr>
          <a:xfrm>
            <a:off x="722233" y="5234940"/>
            <a:ext cx="13185934" cy="247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 panose="020B0604020202020204"/>
              <a:buNone/>
            </a:pPr>
            <a:endParaRPr sz="1600" b="0" i="0" u="none" strike="noStrike" cap="none"/>
          </a:p>
        </p:txBody>
      </p:sp>
      <p:sp>
        <p:nvSpPr>
          <p:cNvPr id="135" name="Google Shape;135;p16"/>
          <p:cNvSpPr/>
          <p:nvPr/>
        </p:nvSpPr>
        <p:spPr>
          <a:xfrm>
            <a:off x="722233" y="5714643"/>
            <a:ext cx="4257675" cy="1484233"/>
          </a:xfrm>
          <a:prstGeom prst="roundRect">
            <a:avLst>
              <a:gd name="adj" fmla="val 12515"/>
            </a:avLst>
          </a:prstGeom>
          <a:solidFill>
            <a:srgbClr val="1F1F1F"/>
          </a:solidFill>
          <a:ln w="9525" cap="flat" cmpd="sng">
            <a:solidFill>
              <a:srgbClr val="3838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6" name="Google Shape;136;p16"/>
          <p:cNvSpPr/>
          <p:nvPr/>
        </p:nvSpPr>
        <p:spPr>
          <a:xfrm>
            <a:off x="936188" y="5928598"/>
            <a:ext cx="3583067" cy="437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Inter Tight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📞</a:t>
            </a:r>
            <a:r>
              <a:rPr lang="en-US" sz="2800" b="0" i="0" u="none" strike="noStrike" cap="non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 Call Usage</a:t>
            </a:r>
            <a:endParaRPr sz="2800" b="0" i="0" u="none" strike="noStrike" cap="none"/>
          </a:p>
        </p:txBody>
      </p:sp>
      <p:sp>
        <p:nvSpPr>
          <p:cNvPr id="137" name="Google Shape;137;p16"/>
          <p:cNvSpPr/>
          <p:nvPr/>
        </p:nvSpPr>
        <p:spPr>
          <a:xfrm>
            <a:off x="936188" y="6489859"/>
            <a:ext cx="3829764" cy="49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Inter Tight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Day, Evening, Night &amp; International minutes and charges</a:t>
            </a:r>
            <a:endParaRPr sz="1600" b="0" i="0" u="none" strike="noStrike" cap="none"/>
          </a:p>
        </p:txBody>
      </p:sp>
      <p:sp>
        <p:nvSpPr>
          <p:cNvPr id="138" name="Google Shape;138;p16"/>
          <p:cNvSpPr/>
          <p:nvPr/>
        </p:nvSpPr>
        <p:spPr>
          <a:xfrm>
            <a:off x="5186243" y="5714643"/>
            <a:ext cx="4257794" cy="1484233"/>
          </a:xfrm>
          <a:prstGeom prst="roundRect">
            <a:avLst>
              <a:gd name="adj" fmla="val 12515"/>
            </a:avLst>
          </a:prstGeom>
          <a:solidFill>
            <a:srgbClr val="1F1F1F"/>
          </a:solidFill>
          <a:ln w="9525" cap="flat" cmpd="sng">
            <a:solidFill>
              <a:srgbClr val="3838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9" name="Google Shape;139;p16"/>
          <p:cNvSpPr/>
          <p:nvPr/>
        </p:nvSpPr>
        <p:spPr>
          <a:xfrm>
            <a:off x="5400199" y="5928598"/>
            <a:ext cx="3583067" cy="437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Inter Tight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🎧</a:t>
            </a:r>
            <a:r>
              <a:rPr lang="en-US" sz="2800" b="0" i="0" u="none" strike="noStrike" cap="non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 Service Calls</a:t>
            </a:r>
            <a:endParaRPr sz="2800" b="0" i="0" u="none" strike="noStrike" cap="none"/>
          </a:p>
        </p:txBody>
      </p:sp>
      <p:sp>
        <p:nvSpPr>
          <p:cNvPr id="140" name="Google Shape;140;p16"/>
          <p:cNvSpPr/>
          <p:nvPr/>
        </p:nvSpPr>
        <p:spPr>
          <a:xfrm>
            <a:off x="5400199" y="6489859"/>
            <a:ext cx="3829883" cy="49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Inter Tight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Number of customer service interactions per account</a:t>
            </a:r>
            <a:endParaRPr sz="1600" b="0" i="0" u="none" strike="noStrike" cap="none"/>
          </a:p>
        </p:txBody>
      </p:sp>
      <p:sp>
        <p:nvSpPr>
          <p:cNvPr id="141" name="Google Shape;141;p16"/>
          <p:cNvSpPr/>
          <p:nvPr/>
        </p:nvSpPr>
        <p:spPr>
          <a:xfrm>
            <a:off x="9650373" y="5714643"/>
            <a:ext cx="4257675" cy="1484233"/>
          </a:xfrm>
          <a:prstGeom prst="roundRect">
            <a:avLst>
              <a:gd name="adj" fmla="val 12515"/>
            </a:avLst>
          </a:prstGeom>
          <a:solidFill>
            <a:srgbClr val="1F1F1F"/>
          </a:solidFill>
          <a:ln w="9525" cap="flat" cmpd="sng">
            <a:solidFill>
              <a:srgbClr val="3838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2" name="Google Shape;142;p16"/>
          <p:cNvSpPr/>
          <p:nvPr/>
        </p:nvSpPr>
        <p:spPr>
          <a:xfrm>
            <a:off x="9864328" y="5928598"/>
            <a:ext cx="3583067" cy="437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Inter Tight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📅</a:t>
            </a:r>
            <a:r>
              <a:rPr lang="en-US" sz="2800" b="0" i="0" u="none" strike="noStrike" cap="non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 Account Length</a:t>
            </a:r>
            <a:endParaRPr sz="2800" b="0" i="0" u="none" strike="noStrike" cap="none"/>
          </a:p>
        </p:txBody>
      </p:sp>
      <p:sp>
        <p:nvSpPr>
          <p:cNvPr id="143" name="Google Shape;143;p16"/>
          <p:cNvSpPr/>
          <p:nvPr/>
        </p:nvSpPr>
        <p:spPr>
          <a:xfrm>
            <a:off x="9864328" y="6489859"/>
            <a:ext cx="3829764" cy="49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Inter Tight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Duration of customer relationship with the telecom provider</a:t>
            </a:r>
            <a:endParaRPr sz="1600" b="0" i="0" u="none" strike="noStrike" cap="non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7"/>
          <p:cNvSpPr/>
          <p:nvPr/>
        </p:nvSpPr>
        <p:spPr>
          <a:xfrm>
            <a:off x="722233" y="769382"/>
            <a:ext cx="7166134" cy="859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Inter Tight"/>
              <a:buNone/>
            </a:pPr>
            <a:r>
              <a:rPr lang="en-US" sz="560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Algorithms Used</a:t>
            </a:r>
            <a:endParaRPr sz="5600" b="0" i="0" u="none" strike="noStrike" cap="none"/>
          </a:p>
        </p:txBody>
      </p:sp>
      <p:sp>
        <p:nvSpPr>
          <p:cNvPr id="150" name="Google Shape;150;p17"/>
          <p:cNvSpPr/>
          <p:nvPr/>
        </p:nvSpPr>
        <p:spPr>
          <a:xfrm>
            <a:off x="722233" y="2041922"/>
            <a:ext cx="13185934" cy="247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 Tight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Four techniques were applied — three clustering algorithms and one dimensionality reduction method — to segment customers effectively.</a:t>
            </a:r>
            <a:endParaRPr sz="1600" b="0" i="0" u="none" strike="noStrike" cap="none"/>
          </a:p>
        </p:txBody>
      </p:sp>
      <p:sp>
        <p:nvSpPr>
          <p:cNvPr id="151" name="Google Shape;151;p17"/>
          <p:cNvSpPr/>
          <p:nvPr/>
        </p:nvSpPr>
        <p:spPr>
          <a:xfrm>
            <a:off x="722233" y="2521625"/>
            <a:ext cx="13185934" cy="247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 panose="020B0604020202020204"/>
              <a:buNone/>
            </a:pPr>
            <a:endParaRPr sz="1600" b="0" i="0" u="none" strike="noStrike" cap="none"/>
          </a:p>
        </p:txBody>
      </p:sp>
      <p:sp>
        <p:nvSpPr>
          <p:cNvPr id="152" name="Google Shape;152;p17"/>
          <p:cNvSpPr/>
          <p:nvPr/>
        </p:nvSpPr>
        <p:spPr>
          <a:xfrm>
            <a:off x="722233" y="3001327"/>
            <a:ext cx="6489740" cy="2126218"/>
          </a:xfrm>
          <a:prstGeom prst="roundRect">
            <a:avLst>
              <a:gd name="adj" fmla="val 8736"/>
            </a:avLst>
          </a:prstGeom>
          <a:solidFill>
            <a:srgbClr val="FFFFFF">
              <a:alpha val="94901"/>
            </a:srgbClr>
          </a:solidFill>
          <a:ln w="22850" cap="flat" cmpd="sng">
            <a:solidFill>
              <a:srgbClr val="3838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3" name="Google Shape;153;p17"/>
          <p:cNvSpPr/>
          <p:nvPr/>
        </p:nvSpPr>
        <p:spPr>
          <a:xfrm>
            <a:off x="745093" y="3024188"/>
            <a:ext cx="6444020" cy="619125"/>
          </a:xfrm>
          <a:prstGeom prst="roundRect">
            <a:avLst>
              <a:gd name="adj" fmla="val 25571"/>
            </a:avLst>
          </a:prstGeom>
          <a:solidFill>
            <a:srgbClr val="1F1F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54" name="Google Shape;154;p17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812262" y="3175159"/>
            <a:ext cx="309562" cy="309563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/>
          <p:nvPr/>
        </p:nvSpPr>
        <p:spPr>
          <a:xfrm>
            <a:off x="951428" y="3849648"/>
            <a:ext cx="3583067" cy="429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Inter Tight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KMeans Clustering</a:t>
            </a:r>
            <a:endParaRPr sz="2800" b="0" i="0" u="none" strike="noStrike" cap="none"/>
          </a:p>
        </p:txBody>
      </p:sp>
      <p:sp>
        <p:nvSpPr>
          <p:cNvPr id="156" name="Google Shape;156;p17"/>
          <p:cNvSpPr/>
          <p:nvPr/>
        </p:nvSpPr>
        <p:spPr>
          <a:xfrm>
            <a:off x="951428" y="4403288"/>
            <a:ext cx="6031349" cy="49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 Tight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Partitions customers into </a:t>
            </a:r>
            <a:r>
              <a:rPr lang="en-US" sz="1600" b="1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k</a:t>
            </a:r>
            <a:r>
              <a:rPr lang="en-US" sz="160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 groups by minimizing intra-cluster variance. Fast, scalable, and interpretable.</a:t>
            </a:r>
            <a:endParaRPr sz="1600" b="0" i="0" u="none" strike="noStrike" cap="none"/>
          </a:p>
        </p:txBody>
      </p:sp>
      <p:sp>
        <p:nvSpPr>
          <p:cNvPr id="157" name="Google Shape;157;p17"/>
          <p:cNvSpPr/>
          <p:nvPr/>
        </p:nvSpPr>
        <p:spPr>
          <a:xfrm>
            <a:off x="7418308" y="3001327"/>
            <a:ext cx="6489859" cy="2126218"/>
          </a:xfrm>
          <a:prstGeom prst="roundRect">
            <a:avLst>
              <a:gd name="adj" fmla="val 8736"/>
            </a:avLst>
          </a:prstGeom>
          <a:solidFill>
            <a:srgbClr val="FFFFFF">
              <a:alpha val="94901"/>
            </a:srgbClr>
          </a:solidFill>
          <a:ln w="22850" cap="flat" cmpd="sng">
            <a:solidFill>
              <a:srgbClr val="3838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8" name="Google Shape;158;p17"/>
          <p:cNvSpPr/>
          <p:nvPr/>
        </p:nvSpPr>
        <p:spPr>
          <a:xfrm>
            <a:off x="7441168" y="3024188"/>
            <a:ext cx="6444139" cy="619125"/>
          </a:xfrm>
          <a:prstGeom prst="roundRect">
            <a:avLst>
              <a:gd name="adj" fmla="val 25571"/>
            </a:avLst>
          </a:prstGeom>
          <a:solidFill>
            <a:srgbClr val="1F1F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59" name="Google Shape;159;p17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508456" y="3175159"/>
            <a:ext cx="309562" cy="309563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/>
          <p:nvPr/>
        </p:nvSpPr>
        <p:spPr>
          <a:xfrm>
            <a:off x="7647503" y="3849648"/>
            <a:ext cx="3583067" cy="429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Inter Tight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DBSCAN</a:t>
            </a:r>
            <a:endParaRPr sz="2800" b="0" i="0" u="none" strike="noStrike" cap="none"/>
          </a:p>
        </p:txBody>
      </p:sp>
      <p:sp>
        <p:nvSpPr>
          <p:cNvPr id="161" name="Google Shape;161;p17"/>
          <p:cNvSpPr/>
          <p:nvPr/>
        </p:nvSpPr>
        <p:spPr>
          <a:xfrm>
            <a:off x="7647503" y="4403288"/>
            <a:ext cx="6031468" cy="49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 Tight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Density-Based Spatial Clustering. Identifies arbitrarily shaped clusters and detects </a:t>
            </a:r>
            <a:r>
              <a:rPr lang="en-US" sz="1600" b="1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noise/outlier</a:t>
            </a:r>
            <a:r>
              <a:rPr lang="en-US" sz="160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 customers.</a:t>
            </a:r>
            <a:endParaRPr sz="1600" b="0" i="0" u="none" strike="noStrike" cap="none"/>
          </a:p>
        </p:txBody>
      </p:sp>
      <p:sp>
        <p:nvSpPr>
          <p:cNvPr id="162" name="Google Shape;162;p17"/>
          <p:cNvSpPr/>
          <p:nvPr/>
        </p:nvSpPr>
        <p:spPr>
          <a:xfrm>
            <a:off x="722233" y="5333881"/>
            <a:ext cx="6489740" cy="2126218"/>
          </a:xfrm>
          <a:prstGeom prst="roundRect">
            <a:avLst>
              <a:gd name="adj" fmla="val 8736"/>
            </a:avLst>
          </a:prstGeom>
          <a:solidFill>
            <a:srgbClr val="FFFFFF">
              <a:alpha val="94901"/>
            </a:srgbClr>
          </a:solidFill>
          <a:ln w="22850" cap="flat" cmpd="sng">
            <a:solidFill>
              <a:srgbClr val="3838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3" name="Google Shape;163;p17"/>
          <p:cNvSpPr/>
          <p:nvPr/>
        </p:nvSpPr>
        <p:spPr>
          <a:xfrm>
            <a:off x="745093" y="5356741"/>
            <a:ext cx="6444020" cy="619125"/>
          </a:xfrm>
          <a:prstGeom prst="roundRect">
            <a:avLst>
              <a:gd name="adj" fmla="val 25571"/>
            </a:avLst>
          </a:prstGeom>
          <a:solidFill>
            <a:srgbClr val="1F1F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64" name="Google Shape;164;p17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812262" y="5507712"/>
            <a:ext cx="309562" cy="309563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/>
          <p:nvPr/>
        </p:nvSpPr>
        <p:spPr>
          <a:xfrm>
            <a:off x="951428" y="6182201"/>
            <a:ext cx="3583067" cy="429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Inter Tight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Hierarchical Clustering</a:t>
            </a:r>
            <a:endParaRPr sz="2800" b="0" i="0" u="none" strike="noStrike" cap="none"/>
          </a:p>
        </p:txBody>
      </p:sp>
      <p:sp>
        <p:nvSpPr>
          <p:cNvPr id="166" name="Google Shape;166;p17"/>
          <p:cNvSpPr/>
          <p:nvPr/>
        </p:nvSpPr>
        <p:spPr>
          <a:xfrm>
            <a:off x="951428" y="6735842"/>
            <a:ext cx="6031349" cy="49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 Tight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Builds a </a:t>
            </a:r>
            <a:r>
              <a:rPr lang="en-US" sz="1600" b="1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dendrogram</a:t>
            </a:r>
            <a:r>
              <a:rPr lang="en-US" sz="160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 of nested clusters. Useful for understanding cluster structure at different granularities.</a:t>
            </a:r>
            <a:endParaRPr sz="1600" b="0" i="0" u="none" strike="noStrike" cap="none"/>
          </a:p>
        </p:txBody>
      </p:sp>
      <p:sp>
        <p:nvSpPr>
          <p:cNvPr id="167" name="Google Shape;167;p17"/>
          <p:cNvSpPr/>
          <p:nvPr/>
        </p:nvSpPr>
        <p:spPr>
          <a:xfrm>
            <a:off x="7418308" y="5333881"/>
            <a:ext cx="6489859" cy="2126218"/>
          </a:xfrm>
          <a:prstGeom prst="roundRect">
            <a:avLst>
              <a:gd name="adj" fmla="val 8736"/>
            </a:avLst>
          </a:prstGeom>
          <a:solidFill>
            <a:srgbClr val="FFFFFF">
              <a:alpha val="94901"/>
            </a:srgbClr>
          </a:solidFill>
          <a:ln w="22850" cap="flat" cmpd="sng">
            <a:solidFill>
              <a:srgbClr val="3838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8" name="Google Shape;168;p17"/>
          <p:cNvSpPr/>
          <p:nvPr/>
        </p:nvSpPr>
        <p:spPr>
          <a:xfrm>
            <a:off x="7441168" y="5356741"/>
            <a:ext cx="6444139" cy="619125"/>
          </a:xfrm>
          <a:prstGeom prst="roundRect">
            <a:avLst>
              <a:gd name="adj" fmla="val 25571"/>
            </a:avLst>
          </a:prstGeom>
          <a:solidFill>
            <a:srgbClr val="1F1F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69" name="Google Shape;169;p17" descr="preencoded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508456" y="5507712"/>
            <a:ext cx="309562" cy="309563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7"/>
          <p:cNvSpPr/>
          <p:nvPr/>
        </p:nvSpPr>
        <p:spPr>
          <a:xfrm>
            <a:off x="7647503" y="6182201"/>
            <a:ext cx="3583067" cy="429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Inter Tight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PCA</a:t>
            </a:r>
            <a:endParaRPr sz="2800" b="0" i="0" u="none" strike="noStrike" cap="none"/>
          </a:p>
        </p:txBody>
      </p:sp>
      <p:sp>
        <p:nvSpPr>
          <p:cNvPr id="171" name="Google Shape;171;p17"/>
          <p:cNvSpPr/>
          <p:nvPr/>
        </p:nvSpPr>
        <p:spPr>
          <a:xfrm>
            <a:off x="7647503" y="6735842"/>
            <a:ext cx="6031468" cy="49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 Tight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Principal Component Analysis reduces 20 features to </a:t>
            </a:r>
            <a:r>
              <a:rPr lang="en-US" sz="1600" b="1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2–3 components</a:t>
            </a:r>
            <a:r>
              <a:rPr lang="en-US" sz="160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 for visualization and noise reduction.</a:t>
            </a:r>
            <a:endParaRPr sz="1600" b="0" i="0" u="none" strike="noStrike" cap="non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"/>
          <p:cNvSpPr/>
          <p:nvPr/>
        </p:nvSpPr>
        <p:spPr>
          <a:xfrm>
            <a:off x="722233" y="713899"/>
            <a:ext cx="10195084" cy="773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50"/>
              <a:buFont typeface="Inter Tight"/>
              <a:buNone/>
            </a:pPr>
            <a:r>
              <a:rPr lang="en-US" sz="505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Algorithm Performance Comparison</a:t>
            </a:r>
            <a:endParaRPr sz="5050" b="0" i="0" u="none" strike="noStrike" cap="none"/>
          </a:p>
        </p:txBody>
      </p:sp>
      <p:sp>
        <p:nvSpPr>
          <p:cNvPr id="178" name="Google Shape;178;p18"/>
          <p:cNvSpPr/>
          <p:nvPr/>
        </p:nvSpPr>
        <p:spPr>
          <a:xfrm>
            <a:off x="722233" y="1822132"/>
            <a:ext cx="13185934" cy="211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Inter Tight"/>
              <a:buNone/>
            </a:pPr>
            <a:r>
              <a:rPr lang="en-US" sz="145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KMeans outperformed both Hierarchical Clustering and DBSCAN on the Silhouette Score metric — a higher score indicates better-defined, well-separated clusters.</a:t>
            </a:r>
            <a:endParaRPr sz="1450" b="0" i="0" u="none" strike="noStrike" cap="none"/>
          </a:p>
        </p:txBody>
      </p:sp>
      <p:sp>
        <p:nvSpPr>
          <p:cNvPr id="179" name="Google Shape;179;p18"/>
          <p:cNvSpPr/>
          <p:nvPr/>
        </p:nvSpPr>
        <p:spPr>
          <a:xfrm>
            <a:off x="722233" y="2221825"/>
            <a:ext cx="13185934" cy="211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50"/>
              <a:buFont typeface="Arial" panose="020B0604020202020204"/>
              <a:buNone/>
            </a:pPr>
            <a:endParaRPr sz="1450" b="0" i="0" u="none" strike="noStrike" cap="none"/>
          </a:p>
        </p:txBody>
      </p:sp>
      <p:pic>
        <p:nvPicPr>
          <p:cNvPr id="180" name="Google Shape;180;p18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22233" y="2809518"/>
            <a:ext cx="6957179" cy="3895963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/>
          <p:nvPr/>
        </p:nvSpPr>
        <p:spPr>
          <a:xfrm>
            <a:off x="8913257" y="2809518"/>
            <a:ext cx="5002411" cy="1394579"/>
          </a:xfrm>
          <a:prstGeom prst="roundRect">
            <a:avLst>
              <a:gd name="adj" fmla="val 7868"/>
            </a:avLst>
          </a:prstGeom>
          <a:solidFill>
            <a:srgbClr val="FFFFFF">
              <a:alpha val="94901"/>
            </a:srgbClr>
          </a:solidFill>
          <a:ln w="22850" cap="flat" cmpd="sng">
            <a:solidFill>
              <a:srgbClr val="3838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2" name="Google Shape;182;p18"/>
          <p:cNvSpPr/>
          <p:nvPr/>
        </p:nvSpPr>
        <p:spPr>
          <a:xfrm>
            <a:off x="8890397" y="2809518"/>
            <a:ext cx="91440" cy="1394579"/>
          </a:xfrm>
          <a:prstGeom prst="roundRect">
            <a:avLst>
              <a:gd name="adj" fmla="val 182821"/>
            </a:avLst>
          </a:prstGeom>
          <a:solidFill>
            <a:srgbClr val="FE6A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3" name="Google Shape;183;p18"/>
          <p:cNvSpPr/>
          <p:nvPr/>
        </p:nvSpPr>
        <p:spPr>
          <a:xfrm>
            <a:off x="9190434" y="3018115"/>
            <a:ext cx="3224689" cy="386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6FC4"/>
              </a:buClr>
              <a:buSzPts val="2500"/>
              <a:buFont typeface="Inter Tight"/>
              <a:buNone/>
            </a:pPr>
            <a:r>
              <a:rPr lang="en-US" sz="2500" b="0" i="0" u="none" strike="noStrike" cap="none">
                <a:solidFill>
                  <a:srgbClr val="1A6FC4"/>
                </a:solidFill>
                <a:latin typeface="Inter Tight"/>
                <a:ea typeface="Inter Tight"/>
                <a:cs typeface="Inter Tight"/>
                <a:sym typeface="Inter Tight"/>
              </a:rPr>
              <a:t>KMeans — Best</a:t>
            </a:r>
            <a:endParaRPr sz="2500" b="0" i="0" u="none" strike="noStrike" cap="none"/>
          </a:p>
        </p:txBody>
      </p:sp>
      <p:sp>
        <p:nvSpPr>
          <p:cNvPr id="184" name="Google Shape;184;p18"/>
          <p:cNvSpPr/>
          <p:nvPr/>
        </p:nvSpPr>
        <p:spPr>
          <a:xfrm>
            <a:off x="9190434" y="3572113"/>
            <a:ext cx="4516636" cy="423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Inter Tight"/>
              <a:buNone/>
            </a:pPr>
            <a:r>
              <a:rPr lang="en-US" sz="145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Silhouette Score: </a:t>
            </a:r>
            <a:r>
              <a:rPr lang="en-US" sz="1450" b="1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0.564</a:t>
            </a:r>
            <a:r>
              <a:rPr lang="en-US" sz="145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. Fastest convergence and most stable cluster assignments.</a:t>
            </a:r>
            <a:endParaRPr sz="1450" b="0" i="0" u="none" strike="noStrike" cap="none"/>
          </a:p>
        </p:txBody>
      </p:sp>
      <p:sp>
        <p:nvSpPr>
          <p:cNvPr id="185" name="Google Shape;185;p18"/>
          <p:cNvSpPr/>
          <p:nvPr/>
        </p:nvSpPr>
        <p:spPr>
          <a:xfrm>
            <a:off x="8913257" y="4371261"/>
            <a:ext cx="5002411" cy="1394579"/>
          </a:xfrm>
          <a:prstGeom prst="roundRect">
            <a:avLst>
              <a:gd name="adj" fmla="val 7868"/>
            </a:avLst>
          </a:prstGeom>
          <a:solidFill>
            <a:srgbClr val="FFFFFF">
              <a:alpha val="94901"/>
            </a:srgbClr>
          </a:solidFill>
          <a:ln w="22850" cap="flat" cmpd="sng">
            <a:solidFill>
              <a:srgbClr val="3838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6" name="Google Shape;186;p18"/>
          <p:cNvSpPr/>
          <p:nvPr/>
        </p:nvSpPr>
        <p:spPr>
          <a:xfrm>
            <a:off x="8890397" y="4371261"/>
            <a:ext cx="91440" cy="1394579"/>
          </a:xfrm>
          <a:prstGeom prst="roundRect">
            <a:avLst>
              <a:gd name="adj" fmla="val 182821"/>
            </a:avLst>
          </a:prstGeom>
          <a:solidFill>
            <a:srgbClr val="FE6A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7" name="Google Shape;187;p18"/>
          <p:cNvSpPr/>
          <p:nvPr/>
        </p:nvSpPr>
        <p:spPr>
          <a:xfrm>
            <a:off x="9190434" y="4579858"/>
            <a:ext cx="3516868" cy="386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Inter Tight"/>
              <a:buNone/>
            </a:pPr>
            <a:r>
              <a:rPr lang="en-US" sz="250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Hierarchical — Moderate</a:t>
            </a:r>
            <a:endParaRPr sz="2500" b="0" i="0" u="none" strike="noStrike" cap="none"/>
          </a:p>
        </p:txBody>
      </p:sp>
      <p:sp>
        <p:nvSpPr>
          <p:cNvPr id="188" name="Google Shape;188;p18"/>
          <p:cNvSpPr/>
          <p:nvPr/>
        </p:nvSpPr>
        <p:spPr>
          <a:xfrm>
            <a:off x="9190434" y="5133856"/>
            <a:ext cx="4516636" cy="423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Inter Tight"/>
              <a:buNone/>
            </a:pPr>
            <a:r>
              <a:rPr lang="en-US" sz="145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Score: </a:t>
            </a:r>
            <a:r>
              <a:rPr lang="en-US" sz="1450" b="1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0.254</a:t>
            </a:r>
            <a:r>
              <a:rPr lang="en-US" sz="145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. Useful for visualization but computationally heavy on larger datasets.</a:t>
            </a:r>
            <a:endParaRPr sz="1450" b="0" i="0" u="none" strike="noStrike" cap="none"/>
          </a:p>
        </p:txBody>
      </p:sp>
      <p:sp>
        <p:nvSpPr>
          <p:cNvPr id="189" name="Google Shape;189;p18"/>
          <p:cNvSpPr/>
          <p:nvPr/>
        </p:nvSpPr>
        <p:spPr>
          <a:xfrm>
            <a:off x="8913257" y="5933003"/>
            <a:ext cx="5002411" cy="1394579"/>
          </a:xfrm>
          <a:prstGeom prst="roundRect">
            <a:avLst>
              <a:gd name="adj" fmla="val 7868"/>
            </a:avLst>
          </a:prstGeom>
          <a:solidFill>
            <a:srgbClr val="FFFFFF">
              <a:alpha val="94901"/>
            </a:srgbClr>
          </a:solidFill>
          <a:ln w="22850" cap="flat" cmpd="sng">
            <a:solidFill>
              <a:srgbClr val="3838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0" name="Google Shape;190;p18"/>
          <p:cNvSpPr/>
          <p:nvPr/>
        </p:nvSpPr>
        <p:spPr>
          <a:xfrm>
            <a:off x="8890397" y="5933003"/>
            <a:ext cx="91440" cy="1394579"/>
          </a:xfrm>
          <a:prstGeom prst="roundRect">
            <a:avLst>
              <a:gd name="adj" fmla="val 182821"/>
            </a:avLst>
          </a:prstGeom>
          <a:solidFill>
            <a:srgbClr val="FE6A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1" name="Google Shape;191;p18"/>
          <p:cNvSpPr/>
          <p:nvPr/>
        </p:nvSpPr>
        <p:spPr>
          <a:xfrm>
            <a:off x="9190434" y="6141601"/>
            <a:ext cx="3925253" cy="386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Inter Tight"/>
              <a:buNone/>
            </a:pPr>
            <a:r>
              <a:rPr lang="en-US" sz="250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DBSCAN — Noise Detected</a:t>
            </a:r>
            <a:endParaRPr sz="2500" b="0" i="0" u="none" strike="noStrike" cap="none"/>
          </a:p>
        </p:txBody>
      </p:sp>
      <p:sp>
        <p:nvSpPr>
          <p:cNvPr id="192" name="Google Shape;192;p18"/>
          <p:cNvSpPr/>
          <p:nvPr/>
        </p:nvSpPr>
        <p:spPr>
          <a:xfrm>
            <a:off x="9190434" y="6695599"/>
            <a:ext cx="4516636" cy="423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Inter Tight"/>
              <a:buNone/>
            </a:pPr>
            <a:r>
              <a:rPr lang="en-US" sz="145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Identified outlier customers but produced less consistent cluster boundaries.</a:t>
            </a:r>
            <a:endParaRPr sz="1450" b="0" i="0" u="none" strike="noStrike" cap="non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9"/>
          <p:cNvSpPr/>
          <p:nvPr/>
        </p:nvSpPr>
        <p:spPr>
          <a:xfrm>
            <a:off x="722233" y="674370"/>
            <a:ext cx="8290203" cy="81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50"/>
              <a:buFont typeface="Inter Tight"/>
              <a:buNone/>
            </a:pPr>
            <a:r>
              <a:rPr lang="en-US" sz="535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Optimal Number of Clusters</a:t>
            </a:r>
            <a:endParaRPr sz="5350" b="0" i="0" u="none" strike="noStrike" cap="none"/>
          </a:p>
        </p:txBody>
      </p:sp>
      <p:sp>
        <p:nvSpPr>
          <p:cNvPr id="199" name="Google Shape;199;p19"/>
          <p:cNvSpPr/>
          <p:nvPr/>
        </p:nvSpPr>
        <p:spPr>
          <a:xfrm>
            <a:off x="722233" y="1770578"/>
            <a:ext cx="13185934" cy="229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nter Tight"/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Two methods were used together to validate the ideal number of customer segments — ensuring clusters are meaningful and stable.</a:t>
            </a:r>
            <a:endParaRPr sz="1500" b="0" i="0" u="none" strike="noStrike" cap="none"/>
          </a:p>
        </p:txBody>
      </p:sp>
      <p:sp>
        <p:nvSpPr>
          <p:cNvPr id="200" name="Google Shape;200;p19"/>
          <p:cNvSpPr/>
          <p:nvPr/>
        </p:nvSpPr>
        <p:spPr>
          <a:xfrm>
            <a:off x="722233" y="2209324"/>
            <a:ext cx="13185934" cy="229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 panose="020B0604020202020204"/>
              <a:buNone/>
            </a:pPr>
            <a:endParaRPr sz="1500" b="0" i="0" u="none" strike="noStrike" cap="none"/>
          </a:p>
        </p:txBody>
      </p:sp>
      <p:pic>
        <p:nvPicPr>
          <p:cNvPr id="201" name="Google Shape;201;p19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22233" y="2648069"/>
            <a:ext cx="980242" cy="1176337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/>
          <p:nvPr/>
        </p:nvSpPr>
        <p:spPr>
          <a:xfrm>
            <a:off x="1888688" y="2844046"/>
            <a:ext cx="3403878" cy="408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Inter Tight"/>
              <a:buNone/>
            </a:pPr>
            <a:r>
              <a:rPr lang="en-US" sz="265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Elbow Method</a:t>
            </a:r>
            <a:endParaRPr sz="2650" b="0" i="0" u="none" strike="noStrike" cap="none"/>
          </a:p>
        </p:txBody>
      </p:sp>
      <p:sp>
        <p:nvSpPr>
          <p:cNvPr id="203" name="Google Shape;203;p19"/>
          <p:cNvSpPr/>
          <p:nvPr/>
        </p:nvSpPr>
        <p:spPr>
          <a:xfrm>
            <a:off x="1888688" y="3364111"/>
            <a:ext cx="12019478" cy="229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nter Tight"/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Plot inertia vs. </a:t>
            </a:r>
            <a:r>
              <a:rPr lang="en-US" sz="1500" b="1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k</a:t>
            </a:r>
            <a:r>
              <a:rPr lang="en-US" sz="150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. The "elbow" bend reveals where adding more clusters gives diminishing returns.</a:t>
            </a:r>
            <a:endParaRPr sz="1500" b="0" i="0" u="none" strike="noStrike" cap="none"/>
          </a:p>
        </p:txBody>
      </p:sp>
      <p:pic>
        <p:nvPicPr>
          <p:cNvPr id="204" name="Google Shape;204;p19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22233" y="3824407"/>
            <a:ext cx="980242" cy="117633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9"/>
          <p:cNvSpPr/>
          <p:nvPr/>
        </p:nvSpPr>
        <p:spPr>
          <a:xfrm>
            <a:off x="1888688" y="4020383"/>
            <a:ext cx="3403878" cy="408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Inter Tight"/>
              <a:buNone/>
            </a:pPr>
            <a:r>
              <a:rPr lang="en-US" sz="265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Silhouette Score</a:t>
            </a:r>
            <a:endParaRPr sz="2650" b="0" i="0" u="none" strike="noStrike" cap="none"/>
          </a:p>
        </p:txBody>
      </p:sp>
      <p:sp>
        <p:nvSpPr>
          <p:cNvPr id="206" name="Google Shape;206;p19"/>
          <p:cNvSpPr/>
          <p:nvPr/>
        </p:nvSpPr>
        <p:spPr>
          <a:xfrm>
            <a:off x="1888688" y="4540448"/>
            <a:ext cx="12019478" cy="229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nter Tight"/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Measures how similar a point is to its own cluster vs. others. Peaks at optimal </a:t>
            </a:r>
            <a:r>
              <a:rPr lang="en-US" sz="1500" b="1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k</a:t>
            </a:r>
            <a:r>
              <a:rPr lang="en-US" sz="150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.</a:t>
            </a:r>
            <a:endParaRPr sz="1500" b="0" i="0" u="none" strike="noStrike" cap="none"/>
          </a:p>
        </p:txBody>
      </p:sp>
      <p:pic>
        <p:nvPicPr>
          <p:cNvPr id="207" name="Google Shape;207;p19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22233" y="5000744"/>
            <a:ext cx="980242" cy="1176337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9"/>
          <p:cNvSpPr/>
          <p:nvPr/>
        </p:nvSpPr>
        <p:spPr>
          <a:xfrm>
            <a:off x="1888688" y="5196721"/>
            <a:ext cx="3403878" cy="408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Inter Tight"/>
              <a:buNone/>
            </a:pPr>
            <a:r>
              <a:rPr lang="en-US" sz="265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Best k = 3</a:t>
            </a:r>
            <a:endParaRPr sz="2650" b="0" i="0" u="none" strike="noStrike" cap="none"/>
          </a:p>
        </p:txBody>
      </p:sp>
      <p:sp>
        <p:nvSpPr>
          <p:cNvPr id="209" name="Google Shape;209;p19"/>
          <p:cNvSpPr/>
          <p:nvPr/>
        </p:nvSpPr>
        <p:spPr>
          <a:xfrm>
            <a:off x="1888688" y="5716786"/>
            <a:ext cx="12019478" cy="229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nter Tight"/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Both methods confirmed </a:t>
            </a:r>
            <a:r>
              <a:rPr lang="en-US" sz="1500" b="1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3 clusters</a:t>
            </a:r>
            <a:r>
              <a:rPr lang="en-US" sz="150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 as the optimal segmentation for this dataset.</a:t>
            </a:r>
            <a:endParaRPr sz="1500" b="0" i="0" u="none" strike="noStrike" cap="none"/>
          </a:p>
        </p:txBody>
      </p:sp>
      <p:sp>
        <p:nvSpPr>
          <p:cNvPr id="210" name="Google Shape;210;p19"/>
          <p:cNvSpPr/>
          <p:nvPr/>
        </p:nvSpPr>
        <p:spPr>
          <a:xfrm>
            <a:off x="722233" y="6386513"/>
            <a:ext cx="13185934" cy="229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 panose="020B0604020202020204"/>
              <a:buNone/>
            </a:pPr>
            <a:endParaRPr sz="1500" b="0" i="0" u="none" strike="noStrike" cap="none"/>
          </a:p>
        </p:txBody>
      </p:sp>
      <p:sp>
        <p:nvSpPr>
          <p:cNvPr id="211" name="Google Shape;211;p19"/>
          <p:cNvSpPr/>
          <p:nvPr/>
        </p:nvSpPr>
        <p:spPr>
          <a:xfrm>
            <a:off x="722233" y="6825258"/>
            <a:ext cx="13185934" cy="729972"/>
          </a:xfrm>
          <a:prstGeom prst="roundRect">
            <a:avLst>
              <a:gd name="adj" fmla="val 24173"/>
            </a:avLst>
          </a:prstGeom>
          <a:solidFill>
            <a:srgbClr val="FFD2B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12" name="Google Shape;212;p19" descr="preencoded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18210" y="7081480"/>
            <a:ext cx="245031" cy="195977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9"/>
          <p:cNvSpPr/>
          <p:nvPr/>
        </p:nvSpPr>
        <p:spPr>
          <a:xfrm>
            <a:off x="1359218" y="7060406"/>
            <a:ext cx="12352973" cy="229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nter Tight"/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Both the Elbow Method and Silhouette Score independently agreed on </a:t>
            </a:r>
            <a:r>
              <a:rPr lang="en-US" sz="1500" b="1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k = 3</a:t>
            </a:r>
            <a:r>
              <a:rPr lang="en-US" sz="150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, providing high confidence in the segmentation result.</a:t>
            </a:r>
            <a:endParaRPr sz="1500" b="0" i="0" u="none" strike="noStrike" cap="non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0"/>
          <p:cNvSpPr/>
          <p:nvPr/>
        </p:nvSpPr>
        <p:spPr>
          <a:xfrm>
            <a:off x="722233" y="1323380"/>
            <a:ext cx="9572625" cy="859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Inter Tight"/>
              <a:buNone/>
            </a:pPr>
            <a:r>
              <a:rPr lang="en-US" sz="560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Customer Segments Identified</a:t>
            </a:r>
            <a:endParaRPr sz="5600" b="0" i="0" u="none" strike="noStrike" cap="none"/>
          </a:p>
        </p:txBody>
      </p:sp>
      <p:sp>
        <p:nvSpPr>
          <p:cNvPr id="220" name="Google Shape;220;p20"/>
          <p:cNvSpPr/>
          <p:nvPr/>
        </p:nvSpPr>
        <p:spPr>
          <a:xfrm>
            <a:off x="722233" y="2595920"/>
            <a:ext cx="13185934" cy="247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 Tight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KMeans with k=3 revealed three distinct, actionable customer profiles — each requiring a different retention strategy.</a:t>
            </a:r>
            <a:endParaRPr sz="1600" b="0" i="0" u="none" strike="noStrike" cap="none"/>
          </a:p>
        </p:txBody>
      </p:sp>
      <p:sp>
        <p:nvSpPr>
          <p:cNvPr id="221" name="Google Shape;221;p20"/>
          <p:cNvSpPr/>
          <p:nvPr/>
        </p:nvSpPr>
        <p:spPr>
          <a:xfrm>
            <a:off x="722233" y="3075623"/>
            <a:ext cx="13185934" cy="247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 panose="020B0604020202020204"/>
              <a:buNone/>
            </a:pPr>
            <a:endParaRPr sz="1600" b="0" i="0" u="none" strike="noStrike" cap="none"/>
          </a:p>
        </p:txBody>
      </p:sp>
      <p:sp>
        <p:nvSpPr>
          <p:cNvPr id="222" name="Google Shape;222;p20"/>
          <p:cNvSpPr/>
          <p:nvPr/>
        </p:nvSpPr>
        <p:spPr>
          <a:xfrm>
            <a:off x="722233" y="3555325"/>
            <a:ext cx="4257675" cy="3350776"/>
          </a:xfrm>
          <a:prstGeom prst="roundRect">
            <a:avLst>
              <a:gd name="adj" fmla="val 5543"/>
            </a:avLst>
          </a:prstGeom>
          <a:solidFill>
            <a:srgbClr val="1F1F1F"/>
          </a:solidFill>
          <a:ln w="9525" cap="flat" cmpd="sng">
            <a:solidFill>
              <a:srgbClr val="3838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3" name="Google Shape;223;p20"/>
          <p:cNvSpPr/>
          <p:nvPr/>
        </p:nvSpPr>
        <p:spPr>
          <a:xfrm>
            <a:off x="936188" y="3769281"/>
            <a:ext cx="619125" cy="619125"/>
          </a:xfrm>
          <a:prstGeom prst="roundRect">
            <a:avLst>
              <a:gd name="adj" fmla="val 14767754"/>
            </a:avLst>
          </a:prstGeom>
          <a:solidFill>
            <a:srgbClr val="FE6A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24" name="Google Shape;224;p20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106448" y="3939540"/>
            <a:ext cx="278606" cy="278606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/>
          <p:nvPr/>
        </p:nvSpPr>
        <p:spPr>
          <a:xfrm>
            <a:off x="936188" y="4594741"/>
            <a:ext cx="3829764" cy="859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Inter Tight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Cluster 1 — High-Value Loyal</a:t>
            </a:r>
            <a:endParaRPr sz="2800" b="0" i="0" u="none" strike="noStrike" cap="none"/>
          </a:p>
        </p:txBody>
      </p:sp>
      <p:sp>
        <p:nvSpPr>
          <p:cNvPr id="226" name="Google Shape;226;p20"/>
          <p:cNvSpPr/>
          <p:nvPr/>
        </p:nvSpPr>
        <p:spPr>
          <a:xfrm>
            <a:off x="936188" y="5578197"/>
            <a:ext cx="3829764" cy="49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Inter Tight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Long account tenure</a:t>
            </a:r>
            <a:r>
              <a:rPr lang="en-US" sz="1600" b="0" i="0" u="none" strike="noStrike" cap="non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, high call usage, low service complaints.</a:t>
            </a:r>
            <a:endParaRPr sz="1600" b="0" i="0" u="none" strike="noStrike" cap="none"/>
          </a:p>
        </p:txBody>
      </p:sp>
      <p:sp>
        <p:nvSpPr>
          <p:cNvPr id="227" name="Google Shape;227;p20"/>
          <p:cNvSpPr/>
          <p:nvPr/>
        </p:nvSpPr>
        <p:spPr>
          <a:xfrm>
            <a:off x="936188" y="6197084"/>
            <a:ext cx="3829764" cy="247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Inter Tight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→ Reward programs &amp; premium upselling</a:t>
            </a:r>
            <a:endParaRPr sz="1600" b="0" i="0" u="none" strike="noStrike" cap="none"/>
          </a:p>
        </p:txBody>
      </p:sp>
      <p:sp>
        <p:nvSpPr>
          <p:cNvPr id="228" name="Google Shape;228;p20"/>
          <p:cNvSpPr/>
          <p:nvPr/>
        </p:nvSpPr>
        <p:spPr>
          <a:xfrm>
            <a:off x="5186243" y="3555325"/>
            <a:ext cx="4257794" cy="3350776"/>
          </a:xfrm>
          <a:prstGeom prst="roundRect">
            <a:avLst>
              <a:gd name="adj" fmla="val 5543"/>
            </a:avLst>
          </a:prstGeom>
          <a:solidFill>
            <a:srgbClr val="1F1F1F"/>
          </a:solidFill>
          <a:ln w="9525" cap="flat" cmpd="sng">
            <a:solidFill>
              <a:srgbClr val="3838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9" name="Google Shape;229;p20"/>
          <p:cNvSpPr/>
          <p:nvPr/>
        </p:nvSpPr>
        <p:spPr>
          <a:xfrm>
            <a:off x="5400199" y="3769281"/>
            <a:ext cx="619125" cy="619125"/>
          </a:xfrm>
          <a:prstGeom prst="roundRect">
            <a:avLst>
              <a:gd name="adj" fmla="val 14767754"/>
            </a:avLst>
          </a:prstGeom>
          <a:solidFill>
            <a:srgbClr val="FE6A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30" name="Google Shape;230;p20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570458" y="3939540"/>
            <a:ext cx="278606" cy="278606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0"/>
          <p:cNvSpPr/>
          <p:nvPr/>
        </p:nvSpPr>
        <p:spPr>
          <a:xfrm>
            <a:off x="5400199" y="4594741"/>
            <a:ext cx="3829883" cy="859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Inter Tight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Cluster 2 — Price-Sensitive Moderate</a:t>
            </a:r>
            <a:endParaRPr sz="2800" b="0" i="0" u="none" strike="noStrike" cap="none"/>
          </a:p>
        </p:txBody>
      </p:sp>
      <p:sp>
        <p:nvSpPr>
          <p:cNvPr id="232" name="Google Shape;232;p20"/>
          <p:cNvSpPr/>
          <p:nvPr/>
        </p:nvSpPr>
        <p:spPr>
          <a:xfrm>
            <a:off x="5400199" y="5578197"/>
            <a:ext cx="3829883" cy="49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Inter Tight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Average usage</a:t>
            </a:r>
            <a:r>
              <a:rPr lang="en-US" sz="1600" b="0" i="0" u="none" strike="noStrike" cap="non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, moderate account age, some service interactions.</a:t>
            </a:r>
            <a:endParaRPr sz="1600" b="0" i="0" u="none" strike="noStrike" cap="none"/>
          </a:p>
        </p:txBody>
      </p:sp>
      <p:sp>
        <p:nvSpPr>
          <p:cNvPr id="233" name="Google Shape;233;p20"/>
          <p:cNvSpPr/>
          <p:nvPr/>
        </p:nvSpPr>
        <p:spPr>
          <a:xfrm>
            <a:off x="5400199" y="6197084"/>
            <a:ext cx="3829883" cy="247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Inter Tight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→ Flexible plans &amp; targeted discounts</a:t>
            </a:r>
            <a:endParaRPr sz="1600" b="0" i="0" u="none" strike="noStrike" cap="none"/>
          </a:p>
        </p:txBody>
      </p:sp>
      <p:sp>
        <p:nvSpPr>
          <p:cNvPr id="234" name="Google Shape;234;p20"/>
          <p:cNvSpPr/>
          <p:nvPr/>
        </p:nvSpPr>
        <p:spPr>
          <a:xfrm>
            <a:off x="9650373" y="3555325"/>
            <a:ext cx="4257675" cy="3350776"/>
          </a:xfrm>
          <a:prstGeom prst="roundRect">
            <a:avLst>
              <a:gd name="adj" fmla="val 5543"/>
            </a:avLst>
          </a:prstGeom>
          <a:solidFill>
            <a:srgbClr val="1F1F1F"/>
          </a:solidFill>
          <a:ln w="9525" cap="flat" cmpd="sng">
            <a:solidFill>
              <a:srgbClr val="3838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5" name="Google Shape;235;p20"/>
          <p:cNvSpPr/>
          <p:nvPr/>
        </p:nvSpPr>
        <p:spPr>
          <a:xfrm>
            <a:off x="9864328" y="3769281"/>
            <a:ext cx="619125" cy="619125"/>
          </a:xfrm>
          <a:prstGeom prst="roundRect">
            <a:avLst>
              <a:gd name="adj" fmla="val 14767754"/>
            </a:avLst>
          </a:prstGeom>
          <a:solidFill>
            <a:srgbClr val="FE6A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36" name="Google Shape;236;p20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034587" y="3939540"/>
            <a:ext cx="278606" cy="278606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0"/>
          <p:cNvSpPr/>
          <p:nvPr/>
        </p:nvSpPr>
        <p:spPr>
          <a:xfrm>
            <a:off x="9864328" y="4594741"/>
            <a:ext cx="3829764" cy="859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Inter Tight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Cluster 3 — At-Risk Low Engagers</a:t>
            </a:r>
            <a:endParaRPr sz="2800" b="0" i="0" u="none" strike="noStrike" cap="none"/>
          </a:p>
        </p:txBody>
      </p:sp>
      <p:sp>
        <p:nvSpPr>
          <p:cNvPr id="238" name="Google Shape;238;p20"/>
          <p:cNvSpPr/>
          <p:nvPr/>
        </p:nvSpPr>
        <p:spPr>
          <a:xfrm>
            <a:off x="9864328" y="5578197"/>
            <a:ext cx="3829764" cy="49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Inter Tight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Low usage</a:t>
            </a:r>
            <a:r>
              <a:rPr lang="en-US" sz="1600" b="0" i="0" u="none" strike="noStrike" cap="non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, high service call frequency, short tenure.</a:t>
            </a:r>
            <a:endParaRPr sz="1600" b="0" i="0" u="none" strike="noStrike" cap="none"/>
          </a:p>
        </p:txBody>
      </p:sp>
      <p:sp>
        <p:nvSpPr>
          <p:cNvPr id="239" name="Google Shape;239;p20"/>
          <p:cNvSpPr/>
          <p:nvPr/>
        </p:nvSpPr>
        <p:spPr>
          <a:xfrm>
            <a:off x="9864328" y="6197084"/>
            <a:ext cx="3829764" cy="49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Inter Tight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→ Proactive outreach &amp; service improvement</a:t>
            </a:r>
            <a:endParaRPr sz="1600" b="0" i="0" u="none" strike="noStrike" cap="non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1"/>
          <p:cNvSpPr/>
          <p:nvPr/>
        </p:nvSpPr>
        <p:spPr>
          <a:xfrm>
            <a:off x="722233" y="740331"/>
            <a:ext cx="8341042" cy="81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50"/>
              <a:buFont typeface="Inter Tight"/>
              <a:buNone/>
            </a:pPr>
            <a:r>
              <a:rPr lang="en-US" sz="535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Real-World Business Impact</a:t>
            </a:r>
            <a:endParaRPr sz="5350" b="0" i="0" u="none" strike="noStrike" cap="none"/>
          </a:p>
        </p:txBody>
      </p:sp>
      <p:sp>
        <p:nvSpPr>
          <p:cNvPr id="246" name="Google Shape;246;p21"/>
          <p:cNvSpPr/>
          <p:nvPr/>
        </p:nvSpPr>
        <p:spPr>
          <a:xfrm>
            <a:off x="722233" y="1929646"/>
            <a:ext cx="13185934" cy="229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nter Tight"/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Applying data-driven customer segmentation to retention campaigns delivers measurable improvements across all key business metrics.</a:t>
            </a:r>
            <a:endParaRPr sz="1500" b="0" i="0" u="none" strike="noStrike" cap="none"/>
          </a:p>
        </p:txBody>
      </p:sp>
      <p:sp>
        <p:nvSpPr>
          <p:cNvPr id="247" name="Google Shape;247;p21"/>
          <p:cNvSpPr/>
          <p:nvPr/>
        </p:nvSpPr>
        <p:spPr>
          <a:xfrm>
            <a:off x="722233" y="2368391"/>
            <a:ext cx="13185934" cy="229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 panose="020B0604020202020204"/>
              <a:buNone/>
            </a:pPr>
            <a:endParaRPr sz="1500" b="0" i="0" u="none" strike="noStrike" cap="none"/>
          </a:p>
        </p:txBody>
      </p:sp>
      <p:sp>
        <p:nvSpPr>
          <p:cNvPr id="248" name="Google Shape;248;p21"/>
          <p:cNvSpPr/>
          <p:nvPr/>
        </p:nvSpPr>
        <p:spPr>
          <a:xfrm>
            <a:off x="800219" y="2905125"/>
            <a:ext cx="2965728" cy="646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50"/>
              <a:buFont typeface="Inter Tight"/>
              <a:buNone/>
            </a:pPr>
            <a:r>
              <a:rPr lang="en-US" sz="505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+35%</a:t>
            </a:r>
            <a:endParaRPr sz="5050" b="0" i="0" u="none" strike="noStrike" cap="none"/>
          </a:p>
        </p:txBody>
      </p:sp>
      <p:sp>
        <p:nvSpPr>
          <p:cNvPr id="249" name="Google Shape;249;p21"/>
          <p:cNvSpPr/>
          <p:nvPr/>
        </p:nvSpPr>
        <p:spPr>
          <a:xfrm>
            <a:off x="722233" y="3789759"/>
            <a:ext cx="3121819" cy="81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Inter Tight"/>
              <a:buNone/>
            </a:pPr>
            <a:r>
              <a:rPr lang="en-US" sz="265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Campaign Response Rate</a:t>
            </a:r>
            <a:endParaRPr sz="2650" b="0" i="0" u="none" strike="noStrike" cap="none"/>
          </a:p>
        </p:txBody>
      </p:sp>
      <p:sp>
        <p:nvSpPr>
          <p:cNvPr id="250" name="Google Shape;250;p21"/>
          <p:cNvSpPr/>
          <p:nvPr/>
        </p:nvSpPr>
        <p:spPr>
          <a:xfrm>
            <a:off x="722233" y="4718209"/>
            <a:ext cx="3121819" cy="458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nter Tight"/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Personalized offers outperform generic campaigns significantly</a:t>
            </a:r>
            <a:endParaRPr sz="1500" b="0" i="0" u="none" strike="noStrike" cap="none"/>
          </a:p>
        </p:txBody>
      </p:sp>
      <p:sp>
        <p:nvSpPr>
          <p:cNvPr id="251" name="Google Shape;251;p21"/>
          <p:cNvSpPr/>
          <p:nvPr/>
        </p:nvSpPr>
        <p:spPr>
          <a:xfrm>
            <a:off x="4154924" y="2905125"/>
            <a:ext cx="2965728" cy="646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50"/>
              <a:buFont typeface="Inter Tight"/>
              <a:buNone/>
            </a:pPr>
            <a:r>
              <a:rPr lang="en-US" sz="505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+18%</a:t>
            </a:r>
            <a:endParaRPr sz="5050" b="0" i="0" u="none" strike="noStrike" cap="none"/>
          </a:p>
        </p:txBody>
      </p:sp>
      <p:sp>
        <p:nvSpPr>
          <p:cNvPr id="252" name="Google Shape;252;p21"/>
          <p:cNvSpPr/>
          <p:nvPr/>
        </p:nvSpPr>
        <p:spPr>
          <a:xfrm>
            <a:off x="4076819" y="3789759"/>
            <a:ext cx="3121938" cy="81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Inter Tight"/>
              <a:buNone/>
            </a:pPr>
            <a:r>
              <a:rPr lang="en-US" sz="265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Customer Lifetime Value</a:t>
            </a:r>
            <a:endParaRPr sz="2650" b="0" i="0" u="none" strike="noStrike" cap="none"/>
          </a:p>
        </p:txBody>
      </p:sp>
      <p:sp>
        <p:nvSpPr>
          <p:cNvPr id="253" name="Google Shape;253;p21"/>
          <p:cNvSpPr/>
          <p:nvPr/>
        </p:nvSpPr>
        <p:spPr>
          <a:xfrm>
            <a:off x="4076819" y="4718209"/>
            <a:ext cx="3121938" cy="458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nter Tight"/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Loyal customers spend more when engaged with relevant offers</a:t>
            </a:r>
            <a:endParaRPr sz="1500" b="0" i="0" u="none" strike="noStrike" cap="none"/>
          </a:p>
        </p:txBody>
      </p:sp>
      <p:sp>
        <p:nvSpPr>
          <p:cNvPr id="254" name="Google Shape;254;p21"/>
          <p:cNvSpPr/>
          <p:nvPr/>
        </p:nvSpPr>
        <p:spPr>
          <a:xfrm>
            <a:off x="7509629" y="2905125"/>
            <a:ext cx="2965728" cy="646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50"/>
              <a:buFont typeface="Inter Tight"/>
              <a:buNone/>
            </a:pPr>
            <a:r>
              <a:rPr lang="en-US" sz="505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-42%</a:t>
            </a:r>
            <a:endParaRPr sz="5050" b="0" i="0" u="none" strike="noStrike" cap="none"/>
          </a:p>
        </p:txBody>
      </p:sp>
      <p:sp>
        <p:nvSpPr>
          <p:cNvPr id="255" name="Google Shape;255;p21"/>
          <p:cNvSpPr/>
          <p:nvPr/>
        </p:nvSpPr>
        <p:spPr>
          <a:xfrm>
            <a:off x="7431524" y="3789759"/>
            <a:ext cx="3121938" cy="408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Inter Tight"/>
              <a:buNone/>
            </a:pPr>
            <a:r>
              <a:rPr lang="en-US" sz="265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Retention Cost</a:t>
            </a:r>
            <a:endParaRPr sz="2650" b="0" i="0" u="none" strike="noStrike" cap="none"/>
          </a:p>
        </p:txBody>
      </p:sp>
      <p:sp>
        <p:nvSpPr>
          <p:cNvPr id="256" name="Google Shape;256;p21"/>
          <p:cNvSpPr/>
          <p:nvPr/>
        </p:nvSpPr>
        <p:spPr>
          <a:xfrm>
            <a:off x="7431524" y="4309824"/>
            <a:ext cx="3121938" cy="458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nter Tight"/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Targeted strategies eliminate wasteful spend on wrong customers</a:t>
            </a:r>
            <a:endParaRPr sz="1500" b="0" i="0" u="none" strike="noStrike" cap="none"/>
          </a:p>
        </p:txBody>
      </p:sp>
      <p:sp>
        <p:nvSpPr>
          <p:cNvPr id="257" name="Google Shape;257;p21"/>
          <p:cNvSpPr/>
          <p:nvPr/>
        </p:nvSpPr>
        <p:spPr>
          <a:xfrm>
            <a:off x="10864334" y="2905125"/>
            <a:ext cx="2965728" cy="646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50"/>
              <a:buFont typeface="Inter Tight"/>
              <a:buNone/>
            </a:pPr>
            <a:r>
              <a:rPr lang="en-US" sz="505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$4.2M</a:t>
            </a:r>
            <a:endParaRPr sz="5050" b="0" i="0" u="none" strike="noStrike" cap="none"/>
          </a:p>
        </p:txBody>
      </p:sp>
      <p:sp>
        <p:nvSpPr>
          <p:cNvPr id="258" name="Google Shape;258;p21"/>
          <p:cNvSpPr/>
          <p:nvPr/>
        </p:nvSpPr>
        <p:spPr>
          <a:xfrm>
            <a:off x="10786229" y="3789759"/>
            <a:ext cx="3121938" cy="408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Inter Tight"/>
              <a:buNone/>
            </a:pPr>
            <a:r>
              <a:rPr lang="en-US" sz="265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Annual Savings</a:t>
            </a:r>
            <a:endParaRPr sz="2650" b="0" i="0" u="none" strike="noStrike" cap="none"/>
          </a:p>
        </p:txBody>
      </p:sp>
      <p:sp>
        <p:nvSpPr>
          <p:cNvPr id="259" name="Google Shape;259;p21"/>
          <p:cNvSpPr/>
          <p:nvPr/>
        </p:nvSpPr>
        <p:spPr>
          <a:xfrm>
            <a:off x="10786229" y="4309824"/>
            <a:ext cx="3121938" cy="458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nter Tight"/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Projected yearly benefit from reduced churn and optimized spend</a:t>
            </a:r>
            <a:endParaRPr sz="1500" b="0" i="0" u="none" strike="noStrike" cap="none"/>
          </a:p>
        </p:txBody>
      </p:sp>
      <p:sp>
        <p:nvSpPr>
          <p:cNvPr id="260" name="Google Shape;260;p21"/>
          <p:cNvSpPr/>
          <p:nvPr/>
        </p:nvSpPr>
        <p:spPr>
          <a:xfrm>
            <a:off x="722233" y="5386268"/>
            <a:ext cx="13185934" cy="229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 panose="020B0604020202020204"/>
              <a:buNone/>
            </a:pPr>
            <a:endParaRPr sz="1500" b="0" i="0" u="none" strike="noStrike" cap="none"/>
          </a:p>
        </p:txBody>
      </p:sp>
      <p:sp>
        <p:nvSpPr>
          <p:cNvPr id="261" name="Google Shape;261;p21"/>
          <p:cNvSpPr/>
          <p:nvPr/>
        </p:nvSpPr>
        <p:spPr>
          <a:xfrm>
            <a:off x="581025" y="5825014"/>
            <a:ext cx="6636187" cy="1664137"/>
          </a:xfrm>
          <a:prstGeom prst="roundRect">
            <a:avLst>
              <a:gd name="adj" fmla="val 16966"/>
            </a:avLst>
          </a:prstGeom>
          <a:solidFill>
            <a:srgbClr val="1A6FC4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2" name="Google Shape;262;p21"/>
          <p:cNvSpPr/>
          <p:nvPr/>
        </p:nvSpPr>
        <p:spPr>
          <a:xfrm>
            <a:off x="777002" y="6011228"/>
            <a:ext cx="3403878" cy="408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50"/>
              <a:buFont typeface="Inter Tight Medium"/>
              <a:buNone/>
            </a:pPr>
            <a:r>
              <a:rPr lang="en-US" sz="2650" b="0" i="0" u="none" strike="noStrike" cap="none">
                <a:solidFill>
                  <a:srgbClr val="FFFFFF"/>
                </a:solidFill>
                <a:latin typeface="Inter Tight Medium"/>
                <a:ea typeface="Inter Tight Medium"/>
                <a:cs typeface="Inter Tight Medium"/>
                <a:sym typeface="Inter Tight Medium"/>
              </a:rPr>
              <a:t>Key Insight</a:t>
            </a:r>
            <a:endParaRPr sz="2650" b="0" i="0" u="none" strike="noStrike" cap="none"/>
          </a:p>
        </p:txBody>
      </p:sp>
      <p:sp>
        <p:nvSpPr>
          <p:cNvPr id="263" name="Google Shape;263;p21"/>
          <p:cNvSpPr/>
          <p:nvPr/>
        </p:nvSpPr>
        <p:spPr>
          <a:xfrm>
            <a:off x="777002" y="6605826"/>
            <a:ext cx="6244233" cy="687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Inter Tight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Cluster 3 (At-Risk) customers, when identified early and reached proactively, show a </a:t>
            </a:r>
            <a:r>
              <a:rPr lang="en-US" sz="1500" b="1" i="0" u="none" strike="noStrike" cap="non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3× higher</a:t>
            </a:r>
            <a:r>
              <a:rPr lang="en-US" sz="1500" b="0" i="0" u="none" strike="noStrike" cap="non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 response to retention offers compared to untargeted campaigns.</a:t>
            </a:r>
            <a:endParaRPr sz="1500" b="0" i="0" u="none" strike="noStrike" cap="none"/>
          </a:p>
        </p:txBody>
      </p:sp>
      <p:sp>
        <p:nvSpPr>
          <p:cNvPr id="264" name="Google Shape;264;p21"/>
          <p:cNvSpPr/>
          <p:nvPr/>
        </p:nvSpPr>
        <p:spPr>
          <a:xfrm>
            <a:off x="7562017" y="6011228"/>
            <a:ext cx="3403878" cy="408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Inter Tight"/>
              <a:buNone/>
            </a:pPr>
            <a:r>
              <a:rPr lang="en-US" sz="265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Why It Works</a:t>
            </a:r>
            <a:endParaRPr sz="2650" b="0" i="0" u="none" strike="noStrike" cap="none"/>
          </a:p>
        </p:txBody>
      </p:sp>
      <p:sp>
        <p:nvSpPr>
          <p:cNvPr id="265" name="Google Shape;265;p21"/>
          <p:cNvSpPr/>
          <p:nvPr/>
        </p:nvSpPr>
        <p:spPr>
          <a:xfrm>
            <a:off x="7562017" y="6605826"/>
            <a:ext cx="6353770" cy="818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nter Tight"/>
              <a:buChar char="•"/>
            </a:pPr>
            <a:r>
              <a:rPr lang="en-US" sz="150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Right message to the right customer at the right time</a:t>
            </a:r>
            <a:endParaRPr sz="1500" b="0" i="0" u="none" strike="noStrike" cap="none"/>
          </a:p>
          <a:p>
            <a:pPr marL="342900" marR="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nter Tight"/>
              <a:buChar char="•"/>
            </a:pPr>
            <a:r>
              <a:rPr lang="en-US" sz="150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Resources focused on highest-churn-risk segments</a:t>
            </a:r>
            <a:endParaRPr sz="1500" b="0" i="0" u="none" strike="noStrike" cap="none"/>
          </a:p>
          <a:p>
            <a:pPr marL="342900" marR="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nter Tight"/>
              <a:buChar char="•"/>
            </a:pPr>
            <a:r>
              <a:rPr lang="en-US" sz="150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Continuous model retraining improves accuracy over time</a:t>
            </a:r>
            <a:endParaRPr sz="1500" b="0" i="0" u="none" strike="noStrike" cap="non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2"/>
          <p:cNvSpPr/>
          <p:nvPr/>
        </p:nvSpPr>
        <p:spPr>
          <a:xfrm>
            <a:off x="722233" y="777835"/>
            <a:ext cx="13185934" cy="229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 panose="020B0604020202020204"/>
              <a:buNone/>
            </a:pPr>
            <a:endParaRPr sz="1500" b="0" i="0" u="none" strike="noStrike" cap="none"/>
          </a:p>
        </p:txBody>
      </p:sp>
      <p:sp>
        <p:nvSpPr>
          <p:cNvPr id="272" name="Google Shape;272;p22"/>
          <p:cNvSpPr/>
          <p:nvPr/>
        </p:nvSpPr>
        <p:spPr>
          <a:xfrm>
            <a:off x="722233" y="1193363"/>
            <a:ext cx="6807756" cy="81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50"/>
              <a:buFont typeface="Inter Tight"/>
              <a:buNone/>
            </a:pPr>
            <a:r>
              <a:rPr lang="en-US" sz="535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Conclusion</a:t>
            </a:r>
            <a:endParaRPr sz="5350" b="0" i="0" u="none" strike="noStrike" cap="none"/>
          </a:p>
        </p:txBody>
      </p:sp>
      <p:sp>
        <p:nvSpPr>
          <p:cNvPr id="273" name="Google Shape;273;p22"/>
          <p:cNvSpPr/>
          <p:nvPr/>
        </p:nvSpPr>
        <p:spPr>
          <a:xfrm>
            <a:off x="722233" y="2289572"/>
            <a:ext cx="13185934" cy="229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 panose="020B0604020202020204"/>
              <a:buNone/>
            </a:pPr>
            <a:endParaRPr sz="1500" b="0" i="0" u="none" strike="noStrike" cap="none"/>
          </a:p>
        </p:txBody>
      </p:sp>
      <p:sp>
        <p:nvSpPr>
          <p:cNvPr id="274" name="Google Shape;274;p22"/>
          <p:cNvSpPr/>
          <p:nvPr/>
        </p:nvSpPr>
        <p:spPr>
          <a:xfrm>
            <a:off x="722233" y="2728317"/>
            <a:ext cx="441127" cy="441127"/>
          </a:xfrm>
          <a:prstGeom prst="roundRect">
            <a:avLst>
              <a:gd name="adj" fmla="val 40002"/>
            </a:avLst>
          </a:prstGeom>
          <a:solidFill>
            <a:srgbClr val="1F1F1F"/>
          </a:solidFill>
          <a:ln w="9525" cap="flat" cmpd="sng">
            <a:solidFill>
              <a:srgbClr val="3838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5" name="Google Shape;275;p22"/>
          <p:cNvSpPr/>
          <p:nvPr/>
        </p:nvSpPr>
        <p:spPr>
          <a:xfrm>
            <a:off x="738545" y="2703790"/>
            <a:ext cx="408384" cy="490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 Tight"/>
              <a:buNone/>
            </a:pPr>
            <a:r>
              <a:rPr lang="en-US" sz="3200" b="0" i="0" u="none" strike="noStrike" cap="non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1</a:t>
            </a:r>
            <a:endParaRPr sz="3200" b="0" i="0" u="none" strike="noStrike" cap="none"/>
          </a:p>
        </p:txBody>
      </p:sp>
      <p:sp>
        <p:nvSpPr>
          <p:cNvPr id="276" name="Google Shape;276;p22"/>
          <p:cNvSpPr/>
          <p:nvPr/>
        </p:nvSpPr>
        <p:spPr>
          <a:xfrm>
            <a:off x="1349573" y="2801779"/>
            <a:ext cx="3855244" cy="408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Inter Tight"/>
              <a:buNone/>
            </a:pPr>
            <a:r>
              <a:rPr lang="en-US" sz="265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Hidden Patterns Revealed</a:t>
            </a:r>
            <a:endParaRPr sz="2650" b="0" i="0" u="none" strike="noStrike" cap="none"/>
          </a:p>
        </p:txBody>
      </p:sp>
      <p:sp>
        <p:nvSpPr>
          <p:cNvPr id="277" name="Google Shape;277;p22"/>
          <p:cNvSpPr/>
          <p:nvPr/>
        </p:nvSpPr>
        <p:spPr>
          <a:xfrm>
            <a:off x="1349573" y="3321844"/>
            <a:ext cx="5849183" cy="687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nter Tight"/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Unsupervised learning successfully uncovered </a:t>
            </a:r>
            <a:r>
              <a:rPr lang="en-US" sz="1500" b="1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3 natural customer segments</a:t>
            </a:r>
            <a:r>
              <a:rPr lang="en-US" sz="150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 in the telecom churn dataset without requiring any labeled data.</a:t>
            </a:r>
            <a:endParaRPr sz="1500" b="0" i="0" u="none" strike="noStrike" cap="none"/>
          </a:p>
        </p:txBody>
      </p:sp>
      <p:sp>
        <p:nvSpPr>
          <p:cNvPr id="278" name="Google Shape;278;p22"/>
          <p:cNvSpPr/>
          <p:nvPr/>
        </p:nvSpPr>
        <p:spPr>
          <a:xfrm>
            <a:off x="7431524" y="2728317"/>
            <a:ext cx="441127" cy="441127"/>
          </a:xfrm>
          <a:prstGeom prst="roundRect">
            <a:avLst>
              <a:gd name="adj" fmla="val 40002"/>
            </a:avLst>
          </a:prstGeom>
          <a:solidFill>
            <a:srgbClr val="1F1F1F"/>
          </a:solidFill>
          <a:ln w="9525" cap="flat" cmpd="sng">
            <a:solidFill>
              <a:srgbClr val="3838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9" name="Google Shape;279;p22"/>
          <p:cNvSpPr/>
          <p:nvPr/>
        </p:nvSpPr>
        <p:spPr>
          <a:xfrm>
            <a:off x="7447836" y="2703790"/>
            <a:ext cx="408384" cy="490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 Tight"/>
              <a:buNone/>
            </a:pPr>
            <a:r>
              <a:rPr lang="en-US" sz="3200" b="0" i="0" u="none" strike="noStrike" cap="non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2</a:t>
            </a:r>
            <a:endParaRPr sz="3200" b="0" i="0" u="none" strike="noStrike" cap="none"/>
          </a:p>
        </p:txBody>
      </p:sp>
      <p:sp>
        <p:nvSpPr>
          <p:cNvPr id="280" name="Google Shape;280;p22"/>
          <p:cNvSpPr/>
          <p:nvPr/>
        </p:nvSpPr>
        <p:spPr>
          <a:xfrm>
            <a:off x="8058864" y="2801779"/>
            <a:ext cx="3640931" cy="408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Inter Tight"/>
              <a:buNone/>
            </a:pPr>
            <a:r>
              <a:rPr lang="en-US" sz="265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KMeans Performed Best</a:t>
            </a:r>
            <a:endParaRPr sz="2650" b="0" i="0" u="none" strike="noStrike" cap="none"/>
          </a:p>
        </p:txBody>
      </p:sp>
      <p:sp>
        <p:nvSpPr>
          <p:cNvPr id="281" name="Google Shape;281;p22"/>
          <p:cNvSpPr/>
          <p:nvPr/>
        </p:nvSpPr>
        <p:spPr>
          <a:xfrm>
            <a:off x="8058864" y="3321844"/>
            <a:ext cx="5849303" cy="458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nter Tight"/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With a Silhouette Score of </a:t>
            </a:r>
            <a:r>
              <a:rPr lang="en-US" sz="1500" b="1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0.564</a:t>
            </a:r>
            <a:r>
              <a:rPr lang="en-US" sz="150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, KMeans clustering outperformed DBSCAN and Hierarchical Clustering in stability and interpretability.</a:t>
            </a:r>
            <a:endParaRPr sz="1500" b="0" i="0" u="none" strike="noStrike" cap="none"/>
          </a:p>
        </p:txBody>
      </p:sp>
      <p:sp>
        <p:nvSpPr>
          <p:cNvPr id="282" name="Google Shape;282;p22"/>
          <p:cNvSpPr/>
          <p:nvPr/>
        </p:nvSpPr>
        <p:spPr>
          <a:xfrm>
            <a:off x="722233" y="4382214"/>
            <a:ext cx="441127" cy="441127"/>
          </a:xfrm>
          <a:prstGeom prst="roundRect">
            <a:avLst>
              <a:gd name="adj" fmla="val 40002"/>
            </a:avLst>
          </a:prstGeom>
          <a:solidFill>
            <a:srgbClr val="1F1F1F"/>
          </a:solidFill>
          <a:ln w="9525" cap="flat" cmpd="sng">
            <a:solidFill>
              <a:srgbClr val="3838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3" name="Google Shape;283;p22"/>
          <p:cNvSpPr/>
          <p:nvPr/>
        </p:nvSpPr>
        <p:spPr>
          <a:xfrm>
            <a:off x="738545" y="4357688"/>
            <a:ext cx="408384" cy="490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 Tight"/>
              <a:buNone/>
            </a:pPr>
            <a:r>
              <a:rPr lang="en-US" sz="3200" b="0" i="0" u="none" strike="noStrike" cap="non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3</a:t>
            </a:r>
            <a:endParaRPr sz="3200" b="0" i="0" u="none" strike="noStrike" cap="none"/>
          </a:p>
        </p:txBody>
      </p:sp>
      <p:sp>
        <p:nvSpPr>
          <p:cNvPr id="284" name="Google Shape;284;p22"/>
          <p:cNvSpPr/>
          <p:nvPr/>
        </p:nvSpPr>
        <p:spPr>
          <a:xfrm>
            <a:off x="1349573" y="4455676"/>
            <a:ext cx="4194572" cy="408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Inter Tight"/>
              <a:buNone/>
            </a:pPr>
            <a:r>
              <a:rPr lang="en-US" sz="265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Proactive Retention Enabled</a:t>
            </a:r>
            <a:endParaRPr sz="2650" b="0" i="0" u="none" strike="noStrike" cap="none"/>
          </a:p>
        </p:txBody>
      </p:sp>
      <p:sp>
        <p:nvSpPr>
          <p:cNvPr id="285" name="Google Shape;285;p22"/>
          <p:cNvSpPr/>
          <p:nvPr/>
        </p:nvSpPr>
        <p:spPr>
          <a:xfrm>
            <a:off x="1349573" y="4975741"/>
            <a:ext cx="5849183" cy="458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nter Tight"/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Segment-aware strategies allow telecom providers to act </a:t>
            </a:r>
            <a:r>
              <a:rPr lang="en-US" sz="1500" b="1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before</a:t>
            </a:r>
            <a:r>
              <a:rPr lang="en-US" sz="150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 customers churn — not after.</a:t>
            </a:r>
            <a:endParaRPr sz="1500" b="0" i="0" u="none" strike="noStrike" cap="none"/>
          </a:p>
        </p:txBody>
      </p:sp>
      <p:sp>
        <p:nvSpPr>
          <p:cNvPr id="286" name="Google Shape;286;p22"/>
          <p:cNvSpPr/>
          <p:nvPr/>
        </p:nvSpPr>
        <p:spPr>
          <a:xfrm>
            <a:off x="7431524" y="4382214"/>
            <a:ext cx="441127" cy="441127"/>
          </a:xfrm>
          <a:prstGeom prst="roundRect">
            <a:avLst>
              <a:gd name="adj" fmla="val 40002"/>
            </a:avLst>
          </a:prstGeom>
          <a:solidFill>
            <a:srgbClr val="1F1F1F"/>
          </a:solidFill>
          <a:ln w="9525" cap="flat" cmpd="sng">
            <a:solidFill>
              <a:srgbClr val="3838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7" name="Google Shape;287;p22"/>
          <p:cNvSpPr/>
          <p:nvPr/>
        </p:nvSpPr>
        <p:spPr>
          <a:xfrm>
            <a:off x="7447836" y="4357688"/>
            <a:ext cx="408384" cy="490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 Tight"/>
              <a:buNone/>
            </a:pPr>
            <a:r>
              <a:rPr lang="en-US" sz="3200" b="0" i="0" u="none" strike="noStrike" cap="non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4</a:t>
            </a:r>
            <a:endParaRPr sz="3200" b="0" i="0" u="none" strike="noStrike" cap="none"/>
          </a:p>
        </p:txBody>
      </p:sp>
      <p:sp>
        <p:nvSpPr>
          <p:cNvPr id="288" name="Google Shape;288;p22"/>
          <p:cNvSpPr/>
          <p:nvPr/>
        </p:nvSpPr>
        <p:spPr>
          <a:xfrm>
            <a:off x="8058864" y="4455676"/>
            <a:ext cx="5228987" cy="408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Inter Tight"/>
              <a:buNone/>
            </a:pPr>
            <a:r>
              <a:rPr lang="en-US" sz="265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Data-Driven Decisions Improve ROI</a:t>
            </a:r>
            <a:endParaRPr sz="2650" b="0" i="0" u="none" strike="noStrike" cap="none"/>
          </a:p>
        </p:txBody>
      </p:sp>
      <p:sp>
        <p:nvSpPr>
          <p:cNvPr id="289" name="Google Shape;289;p22"/>
          <p:cNvSpPr/>
          <p:nvPr/>
        </p:nvSpPr>
        <p:spPr>
          <a:xfrm>
            <a:off x="8058864" y="4975741"/>
            <a:ext cx="5849303" cy="458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nter Tight"/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The model delivers measurable impact: </a:t>
            </a:r>
            <a:r>
              <a:rPr lang="en-US" sz="1500" b="1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+35% campaign response</a:t>
            </a:r>
            <a:r>
              <a:rPr lang="en-US" sz="150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, </a:t>
            </a:r>
            <a:r>
              <a:rPr lang="en-US" sz="1500" b="1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-42% retention cost</a:t>
            </a:r>
            <a:r>
              <a:rPr lang="en-US" sz="150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, and </a:t>
            </a:r>
            <a:r>
              <a:rPr lang="en-US" sz="1500" b="1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$4.2M in projected annual savings</a:t>
            </a:r>
            <a:r>
              <a:rPr lang="en-US" sz="1500" b="0" i="0" u="none" strike="noStrike" cap="non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.</a:t>
            </a:r>
            <a:endParaRPr sz="1500" b="0" i="0" u="none" strike="noStrike" cap="none"/>
          </a:p>
        </p:txBody>
      </p:sp>
      <p:sp>
        <p:nvSpPr>
          <p:cNvPr id="290" name="Google Shape;290;p22"/>
          <p:cNvSpPr/>
          <p:nvPr/>
        </p:nvSpPr>
        <p:spPr>
          <a:xfrm>
            <a:off x="722233" y="5643801"/>
            <a:ext cx="13185934" cy="229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 panose="020B0604020202020204"/>
              <a:buNone/>
            </a:pPr>
            <a:endParaRPr sz="1500" b="0" i="0" u="none" strike="noStrike" cap="none"/>
          </a:p>
        </p:txBody>
      </p:sp>
      <p:sp>
        <p:nvSpPr>
          <p:cNvPr id="291" name="Google Shape;291;p22"/>
          <p:cNvSpPr/>
          <p:nvPr/>
        </p:nvSpPr>
        <p:spPr>
          <a:xfrm>
            <a:off x="722233" y="6180497"/>
            <a:ext cx="13185934" cy="32028"/>
          </a:xfrm>
          <a:prstGeom prst="rect">
            <a:avLst/>
          </a:prstGeom>
          <a:solidFill>
            <a:srgbClr val="000000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2" name="Google Shape;292;p22"/>
          <p:cNvSpPr/>
          <p:nvPr/>
        </p:nvSpPr>
        <p:spPr>
          <a:xfrm>
            <a:off x="722233" y="6491764"/>
            <a:ext cx="9394746" cy="11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6FC4"/>
              </a:buClr>
              <a:buSzPts val="7350"/>
              <a:buFont typeface="Inter Tight"/>
              <a:buNone/>
            </a:pPr>
            <a:r>
              <a:rPr lang="en-US" sz="7350" b="0" i="0" u="none" strike="noStrike" cap="none">
                <a:solidFill>
                  <a:srgbClr val="1A6FC4"/>
                </a:solidFill>
                <a:latin typeface="Inter Tight"/>
                <a:ea typeface="Inter Tight"/>
                <a:cs typeface="Inter Tight"/>
                <a:sym typeface="Inter Tight"/>
              </a:rPr>
              <a:t>Thank You</a:t>
            </a:r>
            <a:endParaRPr sz="7350" b="0" i="0" u="none" strike="noStrike" cap="non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5574</Words>
  <Application>WPS Presentation</Application>
  <PresentationFormat/>
  <Paragraphs>228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SimSun</vt:lpstr>
      <vt:lpstr>Wingdings</vt:lpstr>
      <vt:lpstr>Arial</vt:lpstr>
      <vt:lpstr>Calibri</vt:lpstr>
      <vt:lpstr>Inter Tight</vt:lpstr>
      <vt:lpstr>Inter Tight Medium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Sowjanya Sowjanya</cp:lastModifiedBy>
  <cp:revision>1</cp:revision>
  <dcterms:created xsi:type="dcterms:W3CDTF">2026-02-27T09:07:26Z</dcterms:created>
  <dcterms:modified xsi:type="dcterms:W3CDTF">2026-02-27T09:07:27Z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D0E9C4A8727941BF89B4D3FDE1342FBC_13</vt:lpwstr>
  </property>
  <property fmtid="{D5CDD505-2E9C-101B-9397-08002B2CF9AE}" pid="3" name="KSOProductBuildVer">
    <vt:lpwstr>1033-12.2.0.23196</vt:lpwstr>
  </property>
</Properties>
</file>